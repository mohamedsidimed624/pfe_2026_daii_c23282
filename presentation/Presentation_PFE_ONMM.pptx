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(35s). Se présenter, annoncer le titre. Ton : projet mené EN ENTREPRISE sur un besoin RÉEL. Ne pas lire les noms d'encadrants. Enchaîner : « voici en une minute le chemin que je vais vous faire suivre ». Aucune animation.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 (40s). Annoncer le VOYAGE, pas les chapitres. Insister : le jalon 5 (sécurité) est le cœur technique. Reveal : les 6 jalons un par un. Ne pas détailler. Transition → « commençons par pourquoi ce projet existe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CONTEXTE (1min). Raconter la dynamique e-santé. CHIFFRE CLÉ à dire : 1028 médecins + inscription obligatoire = enjeu de masse ET légal. Ne pas lire la déf. d'Odoo Partner. Q probable : « pourquoi l'ONMM pas le ministère ? » → l'ONMM est l'autorité ordinale, détenteur légitime du tableau des médecins.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EXISTANT (1min). Rendre le problème TANGIBLE. Image forte : « un médecin de Néma doit appeler, écrire sur WhatsApp ou faire 1200 km pour connaître l'état de son dossier ». Reveal : canaux un à un, puis surligner « tout converge vers Nouakchott ». Ne pas mépriser les agents — on constate.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DIAGNOSTIC (1min15) — slide la plus dense, REVEAL LIGNE PAR LIGNE OBLIGATOIRE. Ne pas lire les 6 lignes : en développer 2 (traçabilité + régions éloignées), survoler le reste. Pivot : « pas des dysfonctionnements isolés, mais le symptôme d'une organisation sans outil numérique ». La ligne 3 (rouge) est le pont vers la sécurité. Q : « avez-vous quantifié ? » → constats qualitatifs, limite de l'étude.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PROBLÉMATIQUE (50s). LIRE lentement la problématique (seule chose qu'on lit volontairement = c'est le contrat). Annoncer les 4 objectifs comme grille d'évaluation finale. Reveal : problématique seule d'abord, puis les 4 piliers. Ne pas multiplier les objectifs.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 (50s). Montrer une démarche d'étude comparative. INSISTER : réclamations + sondages + élections n'ont PAS été trouvés sur ces plateformes → valeur ajoutée ONMM (segment vert). Reveal : 3 pays → jauge → segment vert s'illumine. Q : « testé en profondeur ? » → consultation des fonctions publiques, benchmark de cadrage.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360 (1min). Vue d'ensemble en un coup d'œil. 3 espaces = 3 portes d'une même maison. TEASER : « le module Élections concentre l'essentiel de la difficulté technique, j'y reviens » (halo sur Élections). Reveal : centre → 3 espaces → modules. Ne pas détailler chaque module (on les voit en images).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ACTEURS (45s). Lier chaque acteur à 2 actions max. Souligner : sécurité &amp; traçabilité ne sont pas des options mais des exigences (surlignées en vert). Q : « évolutivité ? » → couches + REST stateless + modules découplés, ajout d'un module sans toucher au noyau.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MÉTHODO (1min). ASSUMER le Scrum solo D'AVANCE : « projet individuel, j'ai gardé les principes (backlog, sprints, incréments, Jira) et adapté les cérémonies » → désamorce la question piège. Reveal : UML puis frise sprint par sprint (matérialise l'itération). S6 (vote) en rouge = annonce le climax.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(1min15). NE PAS faire un slide à logos : justifier CHAQUE choix en 1 phrase (cf. tableau justifications). Insister sur STATELESS (= scalabilité, pas de session à voler) et séparation des couches (= maintenabilité/sécurité). Reveal : couche par couche, puis flux animé. Q : « Spring vs Node ? Postgres vs Mongo ? » → réponses préparées.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(1min). Raconter comme une histoire utilisateur. Pointer TRAÇABILITÉ (chaque transition historisée) et BCrypt (mot de passe jamais en clair) → transition vers sécurité. NE PAS afficher le diagramme de classes complet (annexe). Préférer ce parcours à étapes plutôt qu'un diagramme de séquence brut.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SÉCURITÉ FONDATIONS (1min). Rampe de lancement du slide vote. Expliquer STATELESS (pourquoi : scalabilité + pas de session à voler) et SEL (anti rainbow-table). Bref, net, confiant. Reveal : 3 cartes en cascade. Q : « où stockez-vous le JWT ? durée ? refresh ? » → réponse préparée. Transition : « pour le vote, on va beaucoup plus loin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VOTE (2min) — SOMMET DRAMATIQUE, ralentir. À DÉVELOPPER : (1) chiffrement HYBRIDE — pourquoi pas tout en RSA : trop lent/limité → AES pour les données, RSA pour la clé. (2) clé privée VERROUILLÉE pendant le vote = personne, pas même l'admin, ne lit un bulletin avant clôture. (3) hash (détecte modif après coup) vs signature (prouve l'origine). NE PAS lire les algos un par un : MONTRER + expliquer la logique. Si on ne sait pas un détail : « le principe est X, l'implémentation est dans le code ». Honnêteté &gt; bluff. Reveal : bulletin traverse le pipeline étape par étape, le verrou s'ouvre au dépouillement.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RÉALISATION (1min15 ou +90s démo). Remplacer les 6 placeholders par vos VRAIES captures (cf. rapport fig 5.x). Ne pas décrire chaque écran : raconter 2 écrans (adhésion + vote). RECOMMANDATION FORTE : prévoir une DÉMO LIVE courte du vote (effet « ça marche vraiment » imbattable) avec captures en secours. 6 captures max, lisibles.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(1min). BOUCLE NARRATIVE : revenir aux 4 objectifs du slide 6 (très apprécié). Présenter les limites comme CHOIX MAÎTRISÉS, pas oublis. Mettre en avant l'API REGISTRE comme vision stratégique. Q : « qu'est-ce qui manque pour la prod ? » → HSM/secrets, audit externe, tests auto + charge, HTTPS durci, cadre RGPD-santé.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(30s). Finir sur la VISION (ONMM = autorité de référence numérique de la santé), pas sur « voilà j'ai fini ». Remercier le jury, inviter aux questions avec assurance. Phrase de clôture répétée à l'avance. JAMAIS finir par « euh voilà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3D62"/>
        </a:solidFill>
        <a:effectLst/>
      </p:bgPr>
    </p:bg>
    <p:spTree>
      <p:nvGrpSpPr>
        <p:cNvPr id="1" name=""/>
        <p:cNvGrpSpPr/>
        <p:nvPr/>
      </p:nvGrpSpPr>
      <p:grpSpPr/>
      <p:sp>
        <p:nvSpPr>
          <p:cNvPr id="2" name="Rectangle 1"/>
          <p:cNvSpPr/>
          <p:nvPr/>
        </p:nvSpPr>
        <p:spPr>
          <a:xfrm>
            <a:off x="0" y="6035040"/>
            <a:ext cx="12191695" cy="82296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91695" cy="54864"/>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515600" cy="457200"/>
          </a:xfrm>
          <a:prstGeom prst="rect">
            <a:avLst/>
          </a:prstGeom>
          <a:noFill/>
        </p:spPr>
        <p:txBody>
          <a:bodyPr wrap="square" anchor="t" lIns="50800" rIns="50800" tIns="25400" bIns="25400">
            <a:spAutoFit/>
          </a:bodyPr>
          <a:lstStyle/>
          <a:p>
            <a:pPr algn="l"/>
            <a:r>
              <a:rPr sz="1400" b="1" i="0">
                <a:solidFill>
                  <a:srgbClr val="1B9AAA"/>
                </a:solidFill>
                <a:latin typeface="Montserrat"/>
              </a:rPr>
              <a:t>PROJET DE FIN D'ÉTUDES · LICENCE DAII · 2025–2026</a:t>
            </a:r>
          </a:p>
        </p:txBody>
      </p:sp>
      <p:sp>
        <p:nvSpPr>
          <p:cNvPr id="5" name="TextBox 4"/>
          <p:cNvSpPr txBox="1"/>
          <p:nvPr/>
        </p:nvSpPr>
        <p:spPr>
          <a:xfrm>
            <a:off x="822960" y="1554480"/>
            <a:ext cx="10607040" cy="2194560"/>
          </a:xfrm>
          <a:prstGeom prst="rect">
            <a:avLst/>
          </a:prstGeom>
          <a:noFill/>
        </p:spPr>
        <p:txBody>
          <a:bodyPr wrap="square" anchor="t" lIns="50800" rIns="50800" tIns="25400" bIns="25400">
            <a:spAutoFit/>
          </a:bodyPr>
          <a:lstStyle/>
          <a:p>
            <a:pPr algn="l"/>
            <a:r>
              <a:rPr sz="3800" b="1" i="0">
                <a:solidFill>
                  <a:srgbClr val="FFFFFF"/>
                </a:solidFill>
                <a:latin typeface="Montserrat"/>
              </a:rPr>
              <a:t>Conception &amp; développement d'une application web</a:t>
            </a:r>
          </a:p>
        </p:txBody>
      </p:sp>
      <p:sp>
        <p:nvSpPr>
          <p:cNvPr id="6" name="TextBox 5"/>
          <p:cNvSpPr txBox="1"/>
          <p:nvPr/>
        </p:nvSpPr>
        <p:spPr>
          <a:xfrm>
            <a:off x="822960" y="2514600"/>
            <a:ext cx="10607040" cy="914400"/>
          </a:xfrm>
          <a:prstGeom prst="rect">
            <a:avLst/>
          </a:prstGeom>
          <a:noFill/>
        </p:spPr>
        <p:txBody>
          <a:bodyPr wrap="square" anchor="t" lIns="50800" rIns="50800" tIns="25400" bIns="25400">
            <a:spAutoFit/>
          </a:bodyPr>
          <a:lstStyle/>
          <a:p>
            <a:pPr algn="l"/>
            <a:r>
              <a:rPr sz="3000" b="1" i="0">
                <a:solidFill>
                  <a:srgbClr val="2EC4B6"/>
                </a:solidFill>
                <a:latin typeface="Montserrat"/>
              </a:rPr>
              <a:t>pour l'Ordre National des Médecins de Mauritanie</a:t>
            </a:r>
          </a:p>
        </p:txBody>
      </p:sp>
      <p:sp>
        <p:nvSpPr>
          <p:cNvPr id="7" name="TextBox 6"/>
          <p:cNvSpPr txBox="1"/>
          <p:nvPr/>
        </p:nvSpPr>
        <p:spPr>
          <a:xfrm>
            <a:off x="868680" y="3657600"/>
            <a:ext cx="10058400" cy="548640"/>
          </a:xfrm>
          <a:prstGeom prst="rect">
            <a:avLst/>
          </a:prstGeom>
          <a:noFill/>
        </p:spPr>
        <p:txBody>
          <a:bodyPr wrap="square" anchor="t" lIns="50800" rIns="50800" tIns="25400" bIns="25400">
            <a:spAutoFit/>
          </a:bodyPr>
          <a:lstStyle/>
          <a:p>
            <a:pPr algn="l"/>
            <a:r>
              <a:rPr sz="1700" b="0" i="1">
                <a:solidFill>
                  <a:srgbClr val="C9E6EC"/>
                </a:solidFill>
                <a:latin typeface="Inter"/>
              </a:rPr>
              <a:t>Une plateforme centralisée, sécurisée et traçable au service de la régulation médicale</a:t>
            </a:r>
          </a:p>
        </p:txBody>
      </p:sp>
      <p:sp>
        <p:nvSpPr>
          <p:cNvPr id="8" name="TextBox 7"/>
          <p:cNvSpPr txBox="1"/>
          <p:nvPr/>
        </p:nvSpPr>
        <p:spPr>
          <a:xfrm>
            <a:off x="868680" y="4709160"/>
            <a:ext cx="6400800" cy="1097280"/>
          </a:xfrm>
          <a:prstGeom prst="rect">
            <a:avLst/>
          </a:prstGeom>
          <a:noFill/>
        </p:spPr>
        <p:txBody>
          <a:bodyPr wrap="square" anchor="t" lIns="50800" rIns="50800" tIns="25400" bIns="25400">
            <a:spAutoFit/>
          </a:bodyPr>
          <a:lstStyle/>
          <a:p>
            <a:pPr algn="l"/>
            <a:r>
              <a:rPr sz="1400" b="1" i="0">
                <a:solidFill>
                  <a:srgbClr val="FFFFFF"/>
                </a:solidFill>
                <a:latin typeface="Inter"/>
              </a:rPr>
              <a:t>Présenté par : </a:t>
            </a:r>
            <a:r>
              <a:rPr sz="1400" b="0" i="0">
                <a:solidFill>
                  <a:srgbClr val="FFFFFF"/>
                </a:solidFill>
                <a:latin typeface="Inter"/>
              </a:rPr>
              <a:t>Mohamed Sidi Mohamed Mohamed Salem  (C23282)</a:t>
            </a:r>
          </a:p>
          <a:p>
            <a:pPr algn="l"/>
            <a:r>
              <a:rPr sz="1300" b="1" i="0">
                <a:solidFill>
                  <a:srgbClr val="C9E6EC"/>
                </a:solidFill>
                <a:latin typeface="Inter"/>
              </a:rPr>
              <a:t>Encadrants : </a:t>
            </a:r>
            <a:r>
              <a:rPr sz="1300" b="0" i="0">
                <a:solidFill>
                  <a:srgbClr val="C9E6EC"/>
                </a:solidFill>
                <a:latin typeface="Inter"/>
              </a:rPr>
              <a:t>Dr. Ahmed Sejad · Ing. Mohamed Saleck Elbechir</a:t>
            </a:r>
          </a:p>
          <a:p>
            <a:pPr algn="l"/>
            <a:r>
              <a:rPr sz="1300" b="1" i="0">
                <a:solidFill>
                  <a:srgbClr val="C9E6EC"/>
                </a:solidFill>
                <a:latin typeface="Inter"/>
              </a:rPr>
              <a:t>Entreprise d'accueil : </a:t>
            </a:r>
            <a:r>
              <a:rPr sz="1300" b="0" i="0">
                <a:solidFill>
                  <a:srgbClr val="C9E6EC"/>
                </a:solidFill>
                <a:latin typeface="Inter"/>
              </a:rPr>
              <a:t>SMART MS SA</a:t>
            </a:r>
          </a:p>
        </p:txBody>
      </p:sp>
      <p:sp>
        <p:nvSpPr>
          <p:cNvPr id="9" name="TextBox 8"/>
          <p:cNvSpPr txBox="1"/>
          <p:nvPr/>
        </p:nvSpPr>
        <p:spPr>
          <a:xfrm>
            <a:off x="8229600" y="6126480"/>
            <a:ext cx="3657600" cy="640080"/>
          </a:xfrm>
          <a:prstGeom prst="rect">
            <a:avLst/>
          </a:prstGeom>
          <a:noFill/>
        </p:spPr>
        <p:txBody>
          <a:bodyPr wrap="square" anchor="ctr" lIns="50800" rIns="50800" tIns="25400" bIns="25400">
            <a:spAutoFit/>
          </a:bodyPr>
          <a:lstStyle/>
          <a:p>
            <a:pPr algn="r"/>
            <a:r>
              <a:rPr sz="1400" b="1" i="0">
                <a:solidFill>
                  <a:srgbClr val="0A3D62"/>
                </a:solidFill>
                <a:latin typeface="Montserrat"/>
              </a:rPr>
              <a:t>Soutenance : 11/07/2026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FIL CONDUCTEUR</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Le fil de cette présentation</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926080"/>
            <a:ext cx="1783080" cy="1554480"/>
          </a:xfrm>
          <a:prstGeom prst="roundRect">
            <a:avLst>
              <a:gd name="adj" fmla="val 8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11579" y="3154680"/>
            <a:ext cx="640080" cy="6400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11579" y="3154680"/>
            <a:ext cx="640080" cy="640080"/>
          </a:xfrm>
          <a:prstGeom prst="rect">
            <a:avLst/>
          </a:prstGeom>
          <a:noFill/>
        </p:spPr>
        <p:txBody>
          <a:bodyPr wrap="square" anchor="ctr" lIns="50800" rIns="50800" tIns="25400" bIns="25400">
            <a:spAutoFit/>
          </a:bodyPr>
          <a:lstStyle/>
          <a:p>
            <a:pPr algn="ctr"/>
            <a:r>
              <a:rPr sz="2000" b="1" i="0">
                <a:solidFill>
                  <a:srgbClr val="FFFFFF"/>
                </a:solidFill>
                <a:latin typeface="Montserrat"/>
              </a:rPr>
              <a:t>1</a:t>
            </a:r>
          </a:p>
        </p:txBody>
      </p:sp>
      <p:sp>
        <p:nvSpPr>
          <p:cNvPr id="9" name="TextBox 8"/>
          <p:cNvSpPr txBox="1"/>
          <p:nvPr/>
        </p:nvSpPr>
        <p:spPr>
          <a:xfrm>
            <a:off x="640080" y="3886200"/>
            <a:ext cx="1783080" cy="640080"/>
          </a:xfrm>
          <a:prstGeom prst="rect">
            <a:avLst/>
          </a:prstGeom>
          <a:noFill/>
        </p:spPr>
        <p:txBody>
          <a:bodyPr wrap="square" anchor="t" lIns="50800" rIns="50800" tIns="25400" bIns="25400">
            <a:spAutoFit/>
          </a:bodyPr>
          <a:lstStyle/>
          <a:p>
            <a:pPr algn="ctr"/>
            <a:r>
              <a:rPr sz="1250" b="1" i="0">
                <a:solidFill>
                  <a:srgbClr val="0A3D62"/>
                </a:solidFill>
                <a:latin typeface="Montserrat"/>
              </a:rPr>
              <a:t>Contexte</a:t>
            </a:r>
          </a:p>
          <a:p>
            <a:pPr algn="ctr"/>
            <a:r>
              <a:rPr sz="1250" b="1" i="0">
                <a:solidFill>
                  <a:srgbClr val="0A3D62"/>
                </a:solidFill>
                <a:latin typeface="Montserrat"/>
              </a:rPr>
              <a:t>&amp; mission</a:t>
            </a:r>
          </a:p>
        </p:txBody>
      </p:sp>
      <p:sp>
        <p:nvSpPr>
          <p:cNvPr id="10" name="Chevron 9"/>
          <p:cNvSpPr/>
          <p:nvPr/>
        </p:nvSpPr>
        <p:spPr>
          <a:xfrm>
            <a:off x="2423160" y="3611880"/>
            <a:ext cx="164592" cy="164592"/>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32887" y="2926080"/>
            <a:ext cx="1783080" cy="1554480"/>
          </a:xfrm>
          <a:prstGeom prst="roundRect">
            <a:avLst>
              <a:gd name="adj" fmla="val 8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04387" y="3154680"/>
            <a:ext cx="640080" cy="640080"/>
          </a:xfrm>
          <a:prstGeom prst="roundRect">
            <a:avLst>
              <a:gd name="adj" fmla="val 5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4387" y="3154680"/>
            <a:ext cx="640080" cy="640080"/>
          </a:xfrm>
          <a:prstGeom prst="rect">
            <a:avLst/>
          </a:prstGeom>
          <a:noFill/>
        </p:spPr>
        <p:txBody>
          <a:bodyPr wrap="square" anchor="ctr" lIns="50800" rIns="50800" tIns="25400" bIns="25400">
            <a:spAutoFit/>
          </a:bodyPr>
          <a:lstStyle/>
          <a:p>
            <a:pPr algn="ctr"/>
            <a:r>
              <a:rPr sz="2000" b="1" i="0">
                <a:solidFill>
                  <a:srgbClr val="FFFFFF"/>
                </a:solidFill>
                <a:latin typeface="Montserrat"/>
              </a:rPr>
              <a:t>2</a:t>
            </a:r>
          </a:p>
        </p:txBody>
      </p:sp>
      <p:sp>
        <p:nvSpPr>
          <p:cNvPr id="14" name="TextBox 13"/>
          <p:cNvSpPr txBox="1"/>
          <p:nvPr/>
        </p:nvSpPr>
        <p:spPr>
          <a:xfrm>
            <a:off x="2532887" y="3886200"/>
            <a:ext cx="1783080" cy="640080"/>
          </a:xfrm>
          <a:prstGeom prst="rect">
            <a:avLst/>
          </a:prstGeom>
          <a:noFill/>
        </p:spPr>
        <p:txBody>
          <a:bodyPr wrap="square" anchor="t" lIns="50800" rIns="50800" tIns="25400" bIns="25400">
            <a:spAutoFit/>
          </a:bodyPr>
          <a:lstStyle/>
          <a:p>
            <a:pPr algn="ctr"/>
            <a:r>
              <a:rPr sz="1250" b="1" i="0">
                <a:solidFill>
                  <a:srgbClr val="0A3D62"/>
                </a:solidFill>
                <a:latin typeface="Montserrat"/>
              </a:rPr>
              <a:t>Le</a:t>
            </a:r>
          </a:p>
          <a:p>
            <a:pPr algn="ctr"/>
            <a:r>
              <a:rPr sz="1250" b="1" i="0">
                <a:solidFill>
                  <a:srgbClr val="0A3D62"/>
                </a:solidFill>
                <a:latin typeface="Montserrat"/>
              </a:rPr>
              <a:t>problème</a:t>
            </a:r>
          </a:p>
        </p:txBody>
      </p:sp>
      <p:sp>
        <p:nvSpPr>
          <p:cNvPr id="15" name="Chevron 14"/>
          <p:cNvSpPr/>
          <p:nvPr/>
        </p:nvSpPr>
        <p:spPr>
          <a:xfrm>
            <a:off x="4315968" y="3611880"/>
            <a:ext cx="164592" cy="164592"/>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25696" y="2926080"/>
            <a:ext cx="1783080" cy="1554480"/>
          </a:xfrm>
          <a:prstGeom prst="roundRect">
            <a:avLst>
              <a:gd name="adj" fmla="val 8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97196" y="3154680"/>
            <a:ext cx="640080" cy="64008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7196" y="3154680"/>
            <a:ext cx="640080" cy="640080"/>
          </a:xfrm>
          <a:prstGeom prst="rect">
            <a:avLst/>
          </a:prstGeom>
          <a:noFill/>
        </p:spPr>
        <p:txBody>
          <a:bodyPr wrap="square" anchor="ctr" lIns="50800" rIns="50800" tIns="25400" bIns="25400">
            <a:spAutoFit/>
          </a:bodyPr>
          <a:lstStyle/>
          <a:p>
            <a:pPr algn="ctr"/>
            <a:r>
              <a:rPr sz="2000" b="1" i="0">
                <a:solidFill>
                  <a:srgbClr val="FFFFFF"/>
                </a:solidFill>
                <a:latin typeface="Montserrat"/>
              </a:rPr>
              <a:t>3</a:t>
            </a:r>
          </a:p>
        </p:txBody>
      </p:sp>
      <p:sp>
        <p:nvSpPr>
          <p:cNvPr id="19" name="TextBox 18"/>
          <p:cNvSpPr txBox="1"/>
          <p:nvPr/>
        </p:nvSpPr>
        <p:spPr>
          <a:xfrm>
            <a:off x="4425696" y="3886200"/>
            <a:ext cx="1783080" cy="640080"/>
          </a:xfrm>
          <a:prstGeom prst="rect">
            <a:avLst/>
          </a:prstGeom>
          <a:noFill/>
        </p:spPr>
        <p:txBody>
          <a:bodyPr wrap="square" anchor="t" lIns="50800" rIns="50800" tIns="25400" bIns="25400">
            <a:spAutoFit/>
          </a:bodyPr>
          <a:lstStyle/>
          <a:p>
            <a:pPr algn="ctr"/>
            <a:r>
              <a:rPr sz="1250" b="1" i="0">
                <a:solidFill>
                  <a:srgbClr val="0A3D62"/>
                </a:solidFill>
                <a:latin typeface="Montserrat"/>
              </a:rPr>
              <a:t>La</a:t>
            </a:r>
          </a:p>
          <a:p>
            <a:pPr algn="ctr"/>
            <a:r>
              <a:rPr sz="1250" b="1" i="0">
                <a:solidFill>
                  <a:srgbClr val="0A3D62"/>
                </a:solidFill>
                <a:latin typeface="Montserrat"/>
              </a:rPr>
              <a:t>solution</a:t>
            </a:r>
          </a:p>
        </p:txBody>
      </p:sp>
      <p:sp>
        <p:nvSpPr>
          <p:cNvPr id="20" name="Chevron 19"/>
          <p:cNvSpPr/>
          <p:nvPr/>
        </p:nvSpPr>
        <p:spPr>
          <a:xfrm>
            <a:off x="6208776" y="3611880"/>
            <a:ext cx="164592" cy="164592"/>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18503" y="2926080"/>
            <a:ext cx="1783080" cy="1554480"/>
          </a:xfrm>
          <a:prstGeom prst="roundRect">
            <a:avLst>
              <a:gd name="adj" fmla="val 8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890003" y="3154680"/>
            <a:ext cx="640080" cy="64008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90003" y="3154680"/>
            <a:ext cx="640080" cy="640080"/>
          </a:xfrm>
          <a:prstGeom prst="rect">
            <a:avLst/>
          </a:prstGeom>
          <a:noFill/>
        </p:spPr>
        <p:txBody>
          <a:bodyPr wrap="square" anchor="ctr" lIns="50800" rIns="50800" tIns="25400" bIns="25400">
            <a:spAutoFit/>
          </a:bodyPr>
          <a:lstStyle/>
          <a:p>
            <a:pPr algn="ctr"/>
            <a:r>
              <a:rPr sz="2000" b="1" i="0">
                <a:solidFill>
                  <a:srgbClr val="FFFFFF"/>
                </a:solidFill>
                <a:latin typeface="Montserrat"/>
              </a:rPr>
              <a:t>4</a:t>
            </a:r>
          </a:p>
        </p:txBody>
      </p:sp>
      <p:sp>
        <p:nvSpPr>
          <p:cNvPr id="24" name="TextBox 23"/>
          <p:cNvSpPr txBox="1"/>
          <p:nvPr/>
        </p:nvSpPr>
        <p:spPr>
          <a:xfrm>
            <a:off x="6318503" y="3886200"/>
            <a:ext cx="1783080" cy="640080"/>
          </a:xfrm>
          <a:prstGeom prst="rect">
            <a:avLst/>
          </a:prstGeom>
          <a:noFill/>
        </p:spPr>
        <p:txBody>
          <a:bodyPr wrap="square" anchor="t" lIns="50800" rIns="50800" tIns="25400" bIns="25400">
            <a:spAutoFit/>
          </a:bodyPr>
          <a:lstStyle/>
          <a:p>
            <a:pPr algn="ctr"/>
            <a:r>
              <a:rPr sz="1250" b="1" i="0">
                <a:solidFill>
                  <a:srgbClr val="0A3D62"/>
                </a:solidFill>
                <a:latin typeface="Montserrat"/>
              </a:rPr>
              <a:t>La</a:t>
            </a:r>
          </a:p>
          <a:p>
            <a:pPr algn="ctr"/>
            <a:r>
              <a:rPr sz="1250" b="1" i="0">
                <a:solidFill>
                  <a:srgbClr val="0A3D62"/>
                </a:solidFill>
                <a:latin typeface="Montserrat"/>
              </a:rPr>
              <a:t>construction</a:t>
            </a:r>
          </a:p>
        </p:txBody>
      </p:sp>
      <p:sp>
        <p:nvSpPr>
          <p:cNvPr id="25" name="Chevron 24"/>
          <p:cNvSpPr/>
          <p:nvPr/>
        </p:nvSpPr>
        <p:spPr>
          <a:xfrm>
            <a:off x="8101583" y="3611880"/>
            <a:ext cx="164592" cy="164592"/>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11311" y="2926080"/>
            <a:ext cx="1783080" cy="1554480"/>
          </a:xfrm>
          <a:prstGeom prst="roundRect">
            <a:avLst>
              <a:gd name="adj" fmla="val 8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82811" y="3154680"/>
            <a:ext cx="640080" cy="640080"/>
          </a:xfrm>
          <a:prstGeom prst="roundRect">
            <a:avLst>
              <a:gd name="adj" fmla="val 50000"/>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82811" y="3154680"/>
            <a:ext cx="640080" cy="640080"/>
          </a:xfrm>
          <a:prstGeom prst="rect">
            <a:avLst/>
          </a:prstGeom>
          <a:noFill/>
        </p:spPr>
        <p:txBody>
          <a:bodyPr wrap="square" anchor="ctr" lIns="50800" rIns="50800" tIns="25400" bIns="25400">
            <a:spAutoFit/>
          </a:bodyPr>
          <a:lstStyle/>
          <a:p>
            <a:pPr algn="ctr"/>
            <a:r>
              <a:rPr sz="2000" b="1" i="0">
                <a:solidFill>
                  <a:srgbClr val="FFFFFF"/>
                </a:solidFill>
                <a:latin typeface="Montserrat"/>
              </a:rPr>
              <a:t>5</a:t>
            </a:r>
          </a:p>
        </p:txBody>
      </p:sp>
      <p:sp>
        <p:nvSpPr>
          <p:cNvPr id="29" name="TextBox 28"/>
          <p:cNvSpPr txBox="1"/>
          <p:nvPr/>
        </p:nvSpPr>
        <p:spPr>
          <a:xfrm>
            <a:off x="8211311" y="3886200"/>
            <a:ext cx="1783080" cy="640080"/>
          </a:xfrm>
          <a:prstGeom prst="rect">
            <a:avLst/>
          </a:prstGeom>
          <a:noFill/>
        </p:spPr>
        <p:txBody>
          <a:bodyPr wrap="square" anchor="t" lIns="50800" rIns="50800" tIns="25400" bIns="25400">
            <a:spAutoFit/>
          </a:bodyPr>
          <a:lstStyle/>
          <a:p>
            <a:pPr algn="ctr"/>
            <a:r>
              <a:rPr sz="1250" b="1" i="0">
                <a:solidFill>
                  <a:srgbClr val="0A3D62"/>
                </a:solidFill>
                <a:latin typeface="Montserrat"/>
              </a:rPr>
              <a:t>La</a:t>
            </a:r>
          </a:p>
          <a:p>
            <a:pPr algn="ctr"/>
            <a:r>
              <a:rPr sz="1250" b="1" i="0">
                <a:solidFill>
                  <a:srgbClr val="0A3D62"/>
                </a:solidFill>
                <a:latin typeface="Montserrat"/>
              </a:rPr>
              <a:t>sécurité</a:t>
            </a:r>
          </a:p>
        </p:txBody>
      </p:sp>
      <p:sp>
        <p:nvSpPr>
          <p:cNvPr id="30" name="Chevron 29"/>
          <p:cNvSpPr/>
          <p:nvPr/>
        </p:nvSpPr>
        <p:spPr>
          <a:xfrm>
            <a:off x="9994391" y="3611880"/>
            <a:ext cx="164592" cy="164592"/>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04119" y="2926080"/>
            <a:ext cx="1783080" cy="1554480"/>
          </a:xfrm>
          <a:prstGeom prst="roundRect">
            <a:avLst>
              <a:gd name="adj" fmla="val 8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675619" y="3154680"/>
            <a:ext cx="640080" cy="6400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75619" y="3154680"/>
            <a:ext cx="640080" cy="640080"/>
          </a:xfrm>
          <a:prstGeom prst="rect">
            <a:avLst/>
          </a:prstGeom>
          <a:noFill/>
        </p:spPr>
        <p:txBody>
          <a:bodyPr wrap="square" anchor="ctr" lIns="50800" rIns="50800" tIns="25400" bIns="25400">
            <a:spAutoFit/>
          </a:bodyPr>
          <a:lstStyle/>
          <a:p>
            <a:pPr algn="ctr"/>
            <a:r>
              <a:rPr sz="2000" b="1" i="0">
                <a:solidFill>
                  <a:srgbClr val="FFFFFF"/>
                </a:solidFill>
                <a:latin typeface="Montserrat"/>
              </a:rPr>
              <a:t>6</a:t>
            </a:r>
          </a:p>
        </p:txBody>
      </p:sp>
      <p:sp>
        <p:nvSpPr>
          <p:cNvPr id="34" name="TextBox 33"/>
          <p:cNvSpPr txBox="1"/>
          <p:nvPr/>
        </p:nvSpPr>
        <p:spPr>
          <a:xfrm>
            <a:off x="10104119" y="3886200"/>
            <a:ext cx="1783080" cy="640080"/>
          </a:xfrm>
          <a:prstGeom prst="rect">
            <a:avLst/>
          </a:prstGeom>
          <a:noFill/>
        </p:spPr>
        <p:txBody>
          <a:bodyPr wrap="square" anchor="t" lIns="50800" rIns="50800" tIns="25400" bIns="25400">
            <a:spAutoFit/>
          </a:bodyPr>
          <a:lstStyle/>
          <a:p>
            <a:pPr algn="ctr"/>
            <a:r>
              <a:rPr sz="1250" b="1" i="0">
                <a:solidFill>
                  <a:srgbClr val="0A3D62"/>
                </a:solidFill>
                <a:latin typeface="Montserrat"/>
              </a:rPr>
              <a:t>Bilan &amp;</a:t>
            </a:r>
          </a:p>
          <a:p>
            <a:pPr algn="ctr"/>
            <a:r>
              <a:rPr sz="1250" b="1" i="0">
                <a:solidFill>
                  <a:srgbClr val="0A3D62"/>
                </a:solidFill>
                <a:latin typeface="Montserrat"/>
              </a:rPr>
              <a:t>perspectives</a:t>
            </a:r>
          </a:p>
        </p:txBody>
      </p:sp>
      <p:sp>
        <p:nvSpPr>
          <p:cNvPr id="35" name="TextBox 34"/>
          <p:cNvSpPr txBox="1"/>
          <p:nvPr/>
        </p:nvSpPr>
        <p:spPr>
          <a:xfrm>
            <a:off x="640080" y="5029200"/>
            <a:ext cx="10972800" cy="548640"/>
          </a:xfrm>
          <a:prstGeom prst="rect">
            <a:avLst/>
          </a:prstGeom>
          <a:noFill/>
        </p:spPr>
        <p:txBody>
          <a:bodyPr wrap="square" anchor="t" lIns="50800" rIns="50800" tIns="25400" bIns="25400">
            <a:spAutoFit/>
          </a:bodyPr>
          <a:lstStyle/>
          <a:p>
            <a:pPr algn="l"/>
            <a:r>
              <a:rPr sz="1500" b="1" i="0">
                <a:solidFill>
                  <a:srgbClr val="2D3748"/>
                </a:solidFill>
                <a:latin typeface="Inter"/>
              </a:rPr>
              <a:t>Un récit, pas un sommaire : </a:t>
            </a:r>
            <a:r>
              <a:rPr sz="1500" b="0" i="0">
                <a:solidFill>
                  <a:srgbClr val="2D3748"/>
                </a:solidFill>
                <a:latin typeface="Inter"/>
              </a:rPr>
              <a:t>un problème réel → une solution argumentée → un climax technique (la sécurité du vote).</a:t>
            </a:r>
          </a:p>
        </p:txBody>
      </p:sp>
      <p:sp>
        <p:nvSpPr>
          <p:cNvPr id="36" name="TextBox 35"/>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7" name="TextBox 36"/>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1 · CONTEXTE</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Un projet né d'une priorité nationale</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20240"/>
            <a:ext cx="3566160" cy="237744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920240"/>
            <a:ext cx="3566160" cy="1097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76272"/>
            <a:ext cx="3108960" cy="548640"/>
          </a:xfrm>
          <a:prstGeom prst="rect">
            <a:avLst/>
          </a:prstGeom>
          <a:noFill/>
        </p:spPr>
        <p:txBody>
          <a:bodyPr wrap="square" anchor="t" lIns="50800" rIns="50800" tIns="25400" bIns="25400">
            <a:spAutoFit/>
          </a:bodyPr>
          <a:lstStyle/>
          <a:p>
            <a:pPr algn="l"/>
            <a:r>
              <a:rPr sz="1600" b="1" i="0">
                <a:solidFill>
                  <a:srgbClr val="0A3D62"/>
                </a:solidFill>
                <a:latin typeface="Montserrat"/>
              </a:rPr>
              <a:t>Le cadre national</a:t>
            </a:r>
          </a:p>
        </p:txBody>
      </p:sp>
      <p:sp>
        <p:nvSpPr>
          <p:cNvPr id="9" name="TextBox 8"/>
          <p:cNvSpPr txBox="1"/>
          <p:nvPr/>
        </p:nvSpPr>
        <p:spPr>
          <a:xfrm>
            <a:off x="868680" y="2788920"/>
            <a:ext cx="3108960" cy="1371600"/>
          </a:xfrm>
          <a:prstGeom prst="rect">
            <a:avLst/>
          </a:prstGeom>
          <a:noFill/>
        </p:spPr>
        <p:txBody>
          <a:bodyPr wrap="square" anchor="t" lIns="50800" rIns="50800" tIns="25400" bIns="25400">
            <a:spAutoFit/>
          </a:bodyPr>
          <a:lstStyle/>
          <a:p>
            <a:pPr algn="l"/>
            <a:r>
              <a:rPr sz="1250" b="0" i="0">
                <a:solidFill>
                  <a:srgbClr val="2D3748"/>
                </a:solidFill>
                <a:latin typeface="Inter"/>
              </a:rPr>
              <a:t>Stratégie nationale</a:t>
            </a:r>
          </a:p>
          <a:p>
            <a:pPr algn="l"/>
            <a:r>
              <a:rPr sz="1250" b="0" i="0">
                <a:solidFill>
                  <a:srgbClr val="2D3748"/>
                </a:solidFill>
                <a:latin typeface="Inter"/>
              </a:rPr>
              <a:t>e-Santé 2024–2030 :</a:t>
            </a:r>
          </a:p>
          <a:p>
            <a:pPr algn="l"/>
            <a:r>
              <a:rPr sz="1250" b="0" i="0">
                <a:solidFill>
                  <a:srgbClr val="2D3748"/>
                </a:solidFill>
                <a:latin typeface="Inter"/>
              </a:rPr>
              <a:t>numériser les services</a:t>
            </a:r>
          </a:p>
          <a:p>
            <a:pPr algn="l"/>
            <a:r>
              <a:rPr sz="1250" b="0" i="0">
                <a:solidFill>
                  <a:srgbClr val="2D3748"/>
                </a:solidFill>
                <a:latin typeface="Inter"/>
              </a:rPr>
              <a:t>médicaux &amp; administratifs.</a:t>
            </a:r>
          </a:p>
        </p:txBody>
      </p:sp>
      <p:sp>
        <p:nvSpPr>
          <p:cNvPr id="10" name="Rounded Rectangle 9"/>
          <p:cNvSpPr/>
          <p:nvPr/>
        </p:nvSpPr>
        <p:spPr>
          <a:xfrm>
            <a:off x="4343400" y="1920240"/>
            <a:ext cx="3566160" cy="237744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920240"/>
            <a:ext cx="3566160" cy="109728"/>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176272"/>
            <a:ext cx="3108960" cy="548640"/>
          </a:xfrm>
          <a:prstGeom prst="rect">
            <a:avLst/>
          </a:prstGeom>
          <a:noFill/>
        </p:spPr>
        <p:txBody>
          <a:bodyPr wrap="square" anchor="t" lIns="50800" rIns="50800" tIns="25400" bIns="25400">
            <a:spAutoFit/>
          </a:bodyPr>
          <a:lstStyle/>
          <a:p>
            <a:pPr algn="l"/>
            <a:r>
              <a:rPr sz="1600" b="1" i="0">
                <a:solidFill>
                  <a:srgbClr val="0A3D62"/>
                </a:solidFill>
                <a:latin typeface="Montserrat"/>
              </a:rPr>
              <a:t>L'entreprise</a:t>
            </a:r>
          </a:p>
        </p:txBody>
      </p:sp>
      <p:sp>
        <p:nvSpPr>
          <p:cNvPr id="13" name="TextBox 12"/>
          <p:cNvSpPr txBox="1"/>
          <p:nvPr/>
        </p:nvSpPr>
        <p:spPr>
          <a:xfrm>
            <a:off x="4572000" y="2788920"/>
            <a:ext cx="3108960" cy="1371600"/>
          </a:xfrm>
          <a:prstGeom prst="rect">
            <a:avLst/>
          </a:prstGeom>
          <a:noFill/>
        </p:spPr>
        <p:txBody>
          <a:bodyPr wrap="square" anchor="t" lIns="50800" rIns="50800" tIns="25400" bIns="25400">
            <a:spAutoFit/>
          </a:bodyPr>
          <a:lstStyle/>
          <a:p>
            <a:pPr algn="l"/>
            <a:r>
              <a:rPr sz="1250" b="0" i="0">
                <a:solidFill>
                  <a:srgbClr val="2D3748"/>
                </a:solidFill>
                <a:latin typeface="Inter"/>
              </a:rPr>
              <a:t>SMART MS SA — éditeur</a:t>
            </a:r>
          </a:p>
          <a:p>
            <a:pPr algn="l"/>
            <a:r>
              <a:rPr sz="1250" b="0" i="0">
                <a:solidFill>
                  <a:srgbClr val="2D3748"/>
                </a:solidFill>
                <a:latin typeface="Inter"/>
              </a:rPr>
              <a:t>mauritanien, e-santé &amp;</a:t>
            </a:r>
          </a:p>
          <a:p>
            <a:pPr algn="l"/>
            <a:r>
              <a:rPr sz="1250" b="0" i="0">
                <a:solidFill>
                  <a:srgbClr val="2D3748"/>
                </a:solidFill>
                <a:latin typeface="Inter"/>
              </a:rPr>
              <a:t>digitalisation publique</a:t>
            </a:r>
          </a:p>
          <a:p>
            <a:pPr algn="l"/>
            <a:r>
              <a:rPr sz="1250" b="0" i="0">
                <a:solidFill>
                  <a:srgbClr val="2D3748"/>
                </a:solidFill>
                <a:latin typeface="Inter"/>
              </a:rPr>
              <a:t>(Odoo Gold Partner).</a:t>
            </a:r>
          </a:p>
          <a:p>
            <a:pPr algn="l"/>
            <a:r>
              <a:rPr sz="1250" b="0" i="0">
                <a:solidFill>
                  <a:srgbClr val="2D3748"/>
                </a:solidFill>
                <a:latin typeface="Inter"/>
              </a:rPr>
              <a:t>Stage de 4 mois.</a:t>
            </a:r>
          </a:p>
        </p:txBody>
      </p:sp>
      <p:sp>
        <p:nvSpPr>
          <p:cNvPr id="14" name="Rounded Rectangle 13"/>
          <p:cNvSpPr/>
          <p:nvPr/>
        </p:nvSpPr>
        <p:spPr>
          <a:xfrm>
            <a:off x="8046720" y="1920240"/>
            <a:ext cx="3520440" cy="237744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920240"/>
            <a:ext cx="3520440" cy="10972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176272"/>
            <a:ext cx="3063240" cy="548640"/>
          </a:xfrm>
          <a:prstGeom prst="rect">
            <a:avLst/>
          </a:prstGeom>
          <a:noFill/>
        </p:spPr>
        <p:txBody>
          <a:bodyPr wrap="square" anchor="t" lIns="50800" rIns="50800" tIns="25400" bIns="25400">
            <a:spAutoFit/>
          </a:bodyPr>
          <a:lstStyle/>
          <a:p>
            <a:pPr algn="l"/>
            <a:r>
              <a:rPr sz="1600" b="1" i="0">
                <a:solidFill>
                  <a:srgbClr val="0A3D62"/>
                </a:solidFill>
                <a:latin typeface="Montserrat"/>
              </a:rPr>
              <a:t>Le client : l'ONMM</a:t>
            </a:r>
          </a:p>
        </p:txBody>
      </p:sp>
      <p:sp>
        <p:nvSpPr>
          <p:cNvPr id="17" name="TextBox 16"/>
          <p:cNvSpPr txBox="1"/>
          <p:nvPr/>
        </p:nvSpPr>
        <p:spPr>
          <a:xfrm>
            <a:off x="8275320" y="2788920"/>
            <a:ext cx="3063240" cy="1371600"/>
          </a:xfrm>
          <a:prstGeom prst="rect">
            <a:avLst/>
          </a:prstGeom>
          <a:noFill/>
        </p:spPr>
        <p:txBody>
          <a:bodyPr wrap="square" anchor="t" lIns="50800" rIns="50800" tIns="25400" bIns="25400">
            <a:spAutoFit/>
          </a:bodyPr>
          <a:lstStyle/>
          <a:p>
            <a:pPr algn="l"/>
            <a:r>
              <a:rPr sz="1250" b="0" i="0">
                <a:solidFill>
                  <a:srgbClr val="2D3748"/>
                </a:solidFill>
                <a:latin typeface="Inter"/>
              </a:rPr>
              <a:t>Autorité ordinale créée</a:t>
            </a:r>
          </a:p>
          <a:p>
            <a:pPr algn="l"/>
            <a:r>
              <a:rPr sz="1250" b="0" i="0">
                <a:solidFill>
                  <a:srgbClr val="2D3748"/>
                </a:solidFill>
                <a:latin typeface="Inter"/>
              </a:rPr>
              <a:t>en 2019 (décret 2019-077).</a:t>
            </a:r>
          </a:p>
          <a:p>
            <a:pPr algn="l"/>
            <a:r>
              <a:rPr sz="1250" b="0" i="0">
                <a:solidFill>
                  <a:srgbClr val="2D3748"/>
                </a:solidFill>
                <a:latin typeface="Inter"/>
              </a:rPr>
              <a:t>≈ 1 028 médecins inscrits.</a:t>
            </a:r>
          </a:p>
          <a:p>
            <a:pPr algn="l"/>
            <a:r>
              <a:rPr sz="1250" b="0" i="0">
                <a:solidFill>
                  <a:srgbClr val="2D3748"/>
                </a:solidFill>
                <a:latin typeface="Inter"/>
              </a:rPr>
              <a:t>Inscription OBLIGATOIRE</a:t>
            </a:r>
          </a:p>
          <a:p>
            <a:pPr algn="l"/>
            <a:r>
              <a:rPr sz="1250" b="0" i="0">
                <a:solidFill>
                  <a:srgbClr val="2D3748"/>
                </a:solidFill>
                <a:latin typeface="Inter"/>
              </a:rPr>
              <a:t>pour exercer légalement.</a:t>
            </a:r>
          </a:p>
        </p:txBody>
      </p:sp>
      <p:sp>
        <p:nvSpPr>
          <p:cNvPr id="18" name="Rounded Rectangle 17"/>
          <p:cNvSpPr/>
          <p:nvPr/>
        </p:nvSpPr>
        <p:spPr>
          <a:xfrm>
            <a:off x="640080" y="4892040"/>
            <a:ext cx="10927080" cy="822960"/>
          </a:xfrm>
          <a:prstGeom prst="roundRect">
            <a:avLst>
              <a:gd name="adj" fmla="val 2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5029200"/>
            <a:ext cx="1097280" cy="36576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029200"/>
            <a:ext cx="1097280" cy="365760"/>
          </a:xfrm>
          <a:prstGeom prst="rect">
            <a:avLst/>
          </a:prstGeom>
          <a:noFill/>
        </p:spPr>
        <p:txBody>
          <a:bodyPr wrap="square" anchor="ctr" lIns="50800" rIns="50800" tIns="25400" bIns="25400">
            <a:spAutoFit/>
          </a:bodyPr>
          <a:lstStyle/>
          <a:p>
            <a:pPr algn="ctr"/>
            <a:r>
              <a:rPr sz="1200" b="1" i="0">
                <a:solidFill>
                  <a:srgbClr val="FFFFFF"/>
                </a:solidFill>
                <a:latin typeface="Montserrat"/>
              </a:rPr>
              <a:t>2019</a:t>
            </a:r>
          </a:p>
        </p:txBody>
      </p:sp>
      <p:sp>
        <p:nvSpPr>
          <p:cNvPr id="21" name="TextBox 20"/>
          <p:cNvSpPr txBox="1"/>
          <p:nvPr/>
        </p:nvSpPr>
        <p:spPr>
          <a:xfrm>
            <a:off x="2103120" y="5029200"/>
            <a:ext cx="1463040" cy="365760"/>
          </a:xfrm>
          <a:prstGeom prst="rect">
            <a:avLst/>
          </a:prstGeom>
          <a:noFill/>
        </p:spPr>
        <p:txBody>
          <a:bodyPr wrap="square" anchor="ctr" lIns="50800" rIns="50800" tIns="25400" bIns="25400">
            <a:spAutoFit/>
          </a:bodyPr>
          <a:lstStyle/>
          <a:p>
            <a:pPr algn="l"/>
            <a:r>
              <a:rPr sz="1050" b="0" i="0">
                <a:solidFill>
                  <a:srgbClr val="2D3748"/>
                </a:solidFill>
                <a:latin typeface="Inter"/>
              </a:rPr>
              <a:t>Création ONMM</a:t>
            </a:r>
          </a:p>
        </p:txBody>
      </p:sp>
      <p:sp>
        <p:nvSpPr>
          <p:cNvPr id="22" name="Rounded Rectangle 21"/>
          <p:cNvSpPr/>
          <p:nvPr/>
        </p:nvSpPr>
        <p:spPr>
          <a:xfrm>
            <a:off x="3611880" y="5029200"/>
            <a:ext cx="1097280" cy="36576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11880" y="5029200"/>
            <a:ext cx="1097280" cy="365760"/>
          </a:xfrm>
          <a:prstGeom prst="rect">
            <a:avLst/>
          </a:prstGeom>
          <a:noFill/>
        </p:spPr>
        <p:txBody>
          <a:bodyPr wrap="square" anchor="ctr" lIns="50800" rIns="50800" tIns="25400" bIns="25400">
            <a:spAutoFit/>
          </a:bodyPr>
          <a:lstStyle/>
          <a:p>
            <a:pPr algn="ctr"/>
            <a:r>
              <a:rPr sz="1200" b="1" i="0">
                <a:solidFill>
                  <a:srgbClr val="FFFFFF"/>
                </a:solidFill>
                <a:latin typeface="Montserrat"/>
              </a:rPr>
              <a:t>Janv. 2024</a:t>
            </a:r>
          </a:p>
        </p:txBody>
      </p:sp>
      <p:sp>
        <p:nvSpPr>
          <p:cNvPr id="24" name="TextBox 23"/>
          <p:cNvSpPr txBox="1"/>
          <p:nvPr/>
        </p:nvSpPr>
        <p:spPr>
          <a:xfrm>
            <a:off x="4800600" y="5029200"/>
            <a:ext cx="1463040" cy="365760"/>
          </a:xfrm>
          <a:prstGeom prst="rect">
            <a:avLst/>
          </a:prstGeom>
          <a:noFill/>
        </p:spPr>
        <p:txBody>
          <a:bodyPr wrap="square" anchor="ctr" lIns="50800" rIns="50800" tIns="25400" bIns="25400">
            <a:spAutoFit/>
          </a:bodyPr>
          <a:lstStyle/>
          <a:p>
            <a:pPr algn="l"/>
            <a:r>
              <a:rPr sz="1050" b="0" i="0">
                <a:solidFill>
                  <a:srgbClr val="2D3748"/>
                </a:solidFill>
                <a:latin typeface="Inter"/>
              </a:rPr>
              <a:t>1ᵉʳ congrès national</a:t>
            </a:r>
          </a:p>
        </p:txBody>
      </p:sp>
      <p:sp>
        <p:nvSpPr>
          <p:cNvPr id="25" name="Rounded Rectangle 24"/>
          <p:cNvSpPr/>
          <p:nvPr/>
        </p:nvSpPr>
        <p:spPr>
          <a:xfrm>
            <a:off x="6309360" y="5029200"/>
            <a:ext cx="1097280" cy="36576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5029200"/>
            <a:ext cx="1097280" cy="365760"/>
          </a:xfrm>
          <a:prstGeom prst="rect">
            <a:avLst/>
          </a:prstGeom>
          <a:noFill/>
        </p:spPr>
        <p:txBody>
          <a:bodyPr wrap="square" anchor="ctr" lIns="50800" rIns="50800" tIns="25400" bIns="25400">
            <a:spAutoFit/>
          </a:bodyPr>
          <a:lstStyle/>
          <a:p>
            <a:pPr algn="ctr"/>
            <a:r>
              <a:rPr sz="1200" b="1" i="0">
                <a:solidFill>
                  <a:srgbClr val="FFFFFF"/>
                </a:solidFill>
                <a:latin typeface="Montserrat"/>
              </a:rPr>
              <a:t>2024–2030</a:t>
            </a:r>
          </a:p>
        </p:txBody>
      </p:sp>
      <p:sp>
        <p:nvSpPr>
          <p:cNvPr id="27" name="TextBox 26"/>
          <p:cNvSpPr txBox="1"/>
          <p:nvPr/>
        </p:nvSpPr>
        <p:spPr>
          <a:xfrm>
            <a:off x="7498080" y="5029200"/>
            <a:ext cx="1463040" cy="365760"/>
          </a:xfrm>
          <a:prstGeom prst="rect">
            <a:avLst/>
          </a:prstGeom>
          <a:noFill/>
        </p:spPr>
        <p:txBody>
          <a:bodyPr wrap="square" anchor="ctr" lIns="50800" rIns="50800" tIns="25400" bIns="25400">
            <a:spAutoFit/>
          </a:bodyPr>
          <a:lstStyle/>
          <a:p>
            <a:pPr algn="l"/>
            <a:r>
              <a:rPr sz="1050" b="0" i="0">
                <a:solidFill>
                  <a:srgbClr val="2D3748"/>
                </a:solidFill>
                <a:latin typeface="Inter"/>
              </a:rPr>
              <a:t>Stratégie e-Santé</a:t>
            </a:r>
          </a:p>
        </p:txBody>
      </p:sp>
      <p:sp>
        <p:nvSpPr>
          <p:cNvPr id="28" name="Rounded Rectangle 27"/>
          <p:cNvSpPr/>
          <p:nvPr/>
        </p:nvSpPr>
        <p:spPr>
          <a:xfrm>
            <a:off x="9006840" y="5029200"/>
            <a:ext cx="1097280" cy="36576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5029200"/>
            <a:ext cx="1097280" cy="365760"/>
          </a:xfrm>
          <a:prstGeom prst="rect">
            <a:avLst/>
          </a:prstGeom>
          <a:noFill/>
        </p:spPr>
        <p:txBody>
          <a:bodyPr wrap="square" anchor="ctr" lIns="50800" rIns="50800" tIns="25400" bIns="25400">
            <a:spAutoFit/>
          </a:bodyPr>
          <a:lstStyle/>
          <a:p>
            <a:pPr algn="ctr"/>
            <a:r>
              <a:rPr sz="1200" b="1" i="0">
                <a:solidFill>
                  <a:srgbClr val="FFFFFF"/>
                </a:solidFill>
                <a:latin typeface="Montserrat"/>
              </a:rPr>
              <a:t>2026</a:t>
            </a:r>
          </a:p>
        </p:txBody>
      </p:sp>
      <p:sp>
        <p:nvSpPr>
          <p:cNvPr id="30" name="TextBox 29"/>
          <p:cNvSpPr txBox="1"/>
          <p:nvPr/>
        </p:nvSpPr>
        <p:spPr>
          <a:xfrm>
            <a:off x="10195560" y="5029200"/>
            <a:ext cx="1463040" cy="365760"/>
          </a:xfrm>
          <a:prstGeom prst="rect">
            <a:avLst/>
          </a:prstGeom>
          <a:noFill/>
        </p:spPr>
        <p:txBody>
          <a:bodyPr wrap="square" anchor="ctr" lIns="50800" rIns="50800" tIns="25400" bIns="25400">
            <a:spAutoFit/>
          </a:bodyPr>
          <a:lstStyle/>
          <a:p>
            <a:pPr algn="l"/>
            <a:r>
              <a:rPr sz="1050" b="0" i="0">
                <a:solidFill>
                  <a:srgbClr val="2D3748"/>
                </a:solidFill>
                <a:latin typeface="Inter"/>
              </a:rPr>
              <a:t>Notre projet</a:t>
            </a:r>
          </a:p>
        </p:txBody>
      </p:sp>
      <p:sp>
        <p:nvSpPr>
          <p:cNvPr id="31" name="TextBox 30"/>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2" name="TextBox 31"/>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E63946"/>
                </a:solidFill>
                <a:latin typeface="Montserrat"/>
              </a:rPr>
              <a:t>2 · LE PROBLÈME</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Aujourd'hui : papier, Excel et WhatsApp</a:t>
            </a:r>
          </a:p>
        </p:txBody>
      </p:sp>
      <p:sp>
        <p:nvSpPr>
          <p:cNvPr id="5" name="Rectangle 4"/>
          <p:cNvSpPr/>
          <p:nvPr/>
        </p:nvSpPr>
        <p:spPr>
          <a:xfrm>
            <a:off x="566928" y="1572768"/>
            <a:ext cx="1463040" cy="4572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3520440" cy="1234440"/>
          </a:xfrm>
          <a:prstGeom prst="roundRect">
            <a:avLst>
              <a:gd name="adj" fmla="val 8000"/>
            </a:avLst>
          </a:prstGeom>
          <a:solidFill>
            <a:srgbClr val="FDECEA"/>
          </a:solidFill>
          <a:ln w="1270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48840"/>
            <a:ext cx="3108960" cy="365760"/>
          </a:xfrm>
          <a:prstGeom prst="rect">
            <a:avLst/>
          </a:prstGeom>
          <a:noFill/>
        </p:spPr>
        <p:txBody>
          <a:bodyPr wrap="square" anchor="t" lIns="50800" rIns="50800" tIns="25400" bIns="25400">
            <a:spAutoFit/>
          </a:bodyPr>
          <a:lstStyle/>
          <a:p>
            <a:pPr algn="l"/>
            <a:r>
              <a:rPr sz="1500" b="1" i="0">
                <a:solidFill>
                  <a:srgbClr val="E63946"/>
                </a:solidFill>
                <a:latin typeface="Montserrat"/>
              </a:rPr>
              <a:t>Adhésion</a:t>
            </a:r>
          </a:p>
        </p:txBody>
      </p:sp>
      <p:sp>
        <p:nvSpPr>
          <p:cNvPr id="8" name="TextBox 7"/>
          <p:cNvSpPr txBox="1"/>
          <p:nvPr/>
        </p:nvSpPr>
        <p:spPr>
          <a:xfrm>
            <a:off x="868680" y="2578608"/>
            <a:ext cx="3200400" cy="640080"/>
          </a:xfrm>
          <a:prstGeom prst="rect">
            <a:avLst/>
          </a:prstGeom>
          <a:noFill/>
        </p:spPr>
        <p:txBody>
          <a:bodyPr wrap="square" anchor="t" lIns="50800" rIns="50800" tIns="25400" bIns="25400">
            <a:spAutoFit/>
          </a:bodyPr>
          <a:lstStyle/>
          <a:p>
            <a:pPr algn="l"/>
            <a:r>
              <a:rPr sz="1150" b="0" i="0">
                <a:solidFill>
                  <a:srgbClr val="2D3748"/>
                </a:solidFill>
                <a:latin typeface="Inter"/>
              </a:rPr>
              <a:t>Dossier PAPIER au siège,</a:t>
            </a:r>
          </a:p>
          <a:p>
            <a:pPr algn="l"/>
            <a:r>
              <a:rPr sz="1150" b="0" i="0">
                <a:solidFill>
                  <a:srgbClr val="2D3748"/>
                </a:solidFill>
                <a:latin typeface="Inter"/>
              </a:rPr>
              <a:t>diplômes vérifiés en présentiel</a:t>
            </a:r>
          </a:p>
        </p:txBody>
      </p:sp>
      <p:sp>
        <p:nvSpPr>
          <p:cNvPr id="9" name="Rounded Rectangle 8"/>
          <p:cNvSpPr/>
          <p:nvPr/>
        </p:nvSpPr>
        <p:spPr>
          <a:xfrm>
            <a:off x="4343400" y="2011680"/>
            <a:ext cx="3520440" cy="1234440"/>
          </a:xfrm>
          <a:prstGeom prst="roundRect">
            <a:avLst>
              <a:gd name="adj" fmla="val 8000"/>
            </a:avLst>
          </a:prstGeom>
          <a:solidFill>
            <a:srgbClr val="FDECEA"/>
          </a:solidFill>
          <a:ln w="1270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148840"/>
            <a:ext cx="3108960" cy="365760"/>
          </a:xfrm>
          <a:prstGeom prst="rect">
            <a:avLst/>
          </a:prstGeom>
          <a:noFill/>
        </p:spPr>
        <p:txBody>
          <a:bodyPr wrap="square" anchor="t" lIns="50800" rIns="50800" tIns="25400" bIns="25400">
            <a:spAutoFit/>
          </a:bodyPr>
          <a:lstStyle/>
          <a:p>
            <a:pPr algn="l"/>
            <a:r>
              <a:rPr sz="1500" b="1" i="0">
                <a:solidFill>
                  <a:srgbClr val="E63946"/>
                </a:solidFill>
                <a:latin typeface="Montserrat"/>
              </a:rPr>
              <a:t>Registre</a:t>
            </a:r>
          </a:p>
        </p:txBody>
      </p:sp>
      <p:sp>
        <p:nvSpPr>
          <p:cNvPr id="11" name="TextBox 10"/>
          <p:cNvSpPr txBox="1"/>
          <p:nvPr/>
        </p:nvSpPr>
        <p:spPr>
          <a:xfrm>
            <a:off x="4572000" y="2578608"/>
            <a:ext cx="3200400" cy="640080"/>
          </a:xfrm>
          <a:prstGeom prst="rect">
            <a:avLst/>
          </a:prstGeom>
          <a:noFill/>
        </p:spPr>
        <p:txBody>
          <a:bodyPr wrap="square" anchor="t" lIns="50800" rIns="50800" tIns="25400" bIns="25400">
            <a:spAutoFit/>
          </a:bodyPr>
          <a:lstStyle/>
          <a:p>
            <a:pPr algn="l"/>
            <a:r>
              <a:rPr sz="1150" b="0" i="0">
                <a:solidFill>
                  <a:srgbClr val="2D3748"/>
                </a:solidFill>
                <a:latin typeface="Inter"/>
              </a:rPr>
              <a:t>Fichier EXCEL</a:t>
            </a:r>
          </a:p>
          <a:p>
            <a:pPr algn="l"/>
            <a:r>
              <a:rPr sz="1150" b="0" i="0">
                <a:solidFill>
                  <a:srgbClr val="2D3748"/>
                </a:solidFill>
                <a:latin typeface="Inter"/>
              </a:rPr>
              <a:t>non protégé</a:t>
            </a:r>
          </a:p>
        </p:txBody>
      </p:sp>
      <p:sp>
        <p:nvSpPr>
          <p:cNvPr id="12" name="Rounded Rectangle 11"/>
          <p:cNvSpPr/>
          <p:nvPr/>
        </p:nvSpPr>
        <p:spPr>
          <a:xfrm>
            <a:off x="8046719" y="2011680"/>
            <a:ext cx="3520440" cy="1234440"/>
          </a:xfrm>
          <a:prstGeom prst="roundRect">
            <a:avLst>
              <a:gd name="adj" fmla="val 8000"/>
            </a:avLst>
          </a:prstGeom>
          <a:solidFill>
            <a:srgbClr val="FDECEA"/>
          </a:solidFill>
          <a:ln w="1270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2148840"/>
            <a:ext cx="3108960" cy="365760"/>
          </a:xfrm>
          <a:prstGeom prst="rect">
            <a:avLst/>
          </a:prstGeom>
          <a:noFill/>
        </p:spPr>
        <p:txBody>
          <a:bodyPr wrap="square" anchor="t" lIns="50800" rIns="50800" tIns="25400" bIns="25400">
            <a:spAutoFit/>
          </a:bodyPr>
          <a:lstStyle/>
          <a:p>
            <a:pPr algn="l"/>
            <a:r>
              <a:rPr sz="1500" b="1" i="0">
                <a:solidFill>
                  <a:srgbClr val="E63946"/>
                </a:solidFill>
                <a:latin typeface="Montserrat"/>
              </a:rPr>
              <a:t>Suivi dossier</a:t>
            </a:r>
          </a:p>
        </p:txBody>
      </p:sp>
      <p:sp>
        <p:nvSpPr>
          <p:cNvPr id="14" name="TextBox 13"/>
          <p:cNvSpPr txBox="1"/>
          <p:nvPr/>
        </p:nvSpPr>
        <p:spPr>
          <a:xfrm>
            <a:off x="8275319" y="2578608"/>
            <a:ext cx="3200400" cy="640080"/>
          </a:xfrm>
          <a:prstGeom prst="rect">
            <a:avLst/>
          </a:prstGeom>
          <a:noFill/>
        </p:spPr>
        <p:txBody>
          <a:bodyPr wrap="square" anchor="t" lIns="50800" rIns="50800" tIns="25400" bIns="25400">
            <a:spAutoFit/>
          </a:bodyPr>
          <a:lstStyle/>
          <a:p>
            <a:pPr algn="l"/>
            <a:r>
              <a:rPr sz="1150" b="0" i="0">
                <a:solidFill>
                  <a:srgbClr val="2D3748"/>
                </a:solidFill>
                <a:latin typeface="Inter"/>
              </a:rPr>
              <a:t>Téléphone / e-mail / WhatsApp</a:t>
            </a:r>
          </a:p>
          <a:p>
            <a:pPr algn="l"/>
            <a:r>
              <a:rPr sz="1150" b="0" i="0">
                <a:solidFill>
                  <a:srgbClr val="2D3748"/>
                </a:solidFill>
                <a:latin typeface="Inter"/>
              </a:rPr>
              <a:t>ou déplacement à Nouakchott</a:t>
            </a:r>
          </a:p>
        </p:txBody>
      </p:sp>
      <p:sp>
        <p:nvSpPr>
          <p:cNvPr id="15" name="Rounded Rectangle 14"/>
          <p:cNvSpPr/>
          <p:nvPr/>
        </p:nvSpPr>
        <p:spPr>
          <a:xfrm>
            <a:off x="640080" y="3429000"/>
            <a:ext cx="3520440" cy="1234440"/>
          </a:xfrm>
          <a:prstGeom prst="roundRect">
            <a:avLst>
              <a:gd name="adj" fmla="val 8000"/>
            </a:avLst>
          </a:prstGeom>
          <a:solidFill>
            <a:srgbClr val="FDECEA"/>
          </a:solidFill>
          <a:ln w="1270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66160"/>
            <a:ext cx="3108960" cy="365760"/>
          </a:xfrm>
          <a:prstGeom prst="rect">
            <a:avLst/>
          </a:prstGeom>
          <a:noFill/>
        </p:spPr>
        <p:txBody>
          <a:bodyPr wrap="square" anchor="t" lIns="50800" rIns="50800" tIns="25400" bIns="25400">
            <a:spAutoFit/>
          </a:bodyPr>
          <a:lstStyle/>
          <a:p>
            <a:pPr algn="l"/>
            <a:r>
              <a:rPr sz="1500" b="1" i="0">
                <a:solidFill>
                  <a:srgbClr val="E63946"/>
                </a:solidFill>
                <a:latin typeface="Montserrat"/>
              </a:rPr>
              <a:t>Réclamations</a:t>
            </a:r>
          </a:p>
        </p:txBody>
      </p:sp>
      <p:sp>
        <p:nvSpPr>
          <p:cNvPr id="17" name="TextBox 16"/>
          <p:cNvSpPr txBox="1"/>
          <p:nvPr/>
        </p:nvSpPr>
        <p:spPr>
          <a:xfrm>
            <a:off x="868680" y="3995928"/>
            <a:ext cx="3200400" cy="640080"/>
          </a:xfrm>
          <a:prstGeom prst="rect">
            <a:avLst/>
          </a:prstGeom>
          <a:noFill/>
        </p:spPr>
        <p:txBody>
          <a:bodyPr wrap="square" anchor="t" lIns="50800" rIns="50800" tIns="25400" bIns="25400">
            <a:spAutoFit/>
          </a:bodyPr>
          <a:lstStyle/>
          <a:p>
            <a:pPr algn="l"/>
            <a:r>
              <a:rPr sz="1150" b="0" i="0">
                <a:solidFill>
                  <a:srgbClr val="2D3748"/>
                </a:solidFill>
                <a:latin typeface="Inter"/>
              </a:rPr>
              <a:t>Archives PAPIER</a:t>
            </a:r>
          </a:p>
          <a:p>
            <a:pPr algn="l"/>
            <a:r>
              <a:rPr sz="1150" b="0" i="0">
                <a:solidFill>
                  <a:srgbClr val="2D3748"/>
                </a:solidFill>
                <a:latin typeface="Inter"/>
              </a:rPr>
              <a:t>non exploitables</a:t>
            </a:r>
          </a:p>
        </p:txBody>
      </p:sp>
      <p:sp>
        <p:nvSpPr>
          <p:cNvPr id="18" name="Rounded Rectangle 17"/>
          <p:cNvSpPr/>
          <p:nvPr/>
        </p:nvSpPr>
        <p:spPr>
          <a:xfrm>
            <a:off x="4343400" y="3429000"/>
            <a:ext cx="3520440" cy="1234440"/>
          </a:xfrm>
          <a:prstGeom prst="roundRect">
            <a:avLst>
              <a:gd name="adj" fmla="val 8000"/>
            </a:avLst>
          </a:prstGeom>
          <a:solidFill>
            <a:srgbClr val="FDECEA"/>
          </a:solidFill>
          <a:ln w="1270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566160"/>
            <a:ext cx="3108960" cy="365760"/>
          </a:xfrm>
          <a:prstGeom prst="rect">
            <a:avLst/>
          </a:prstGeom>
          <a:noFill/>
        </p:spPr>
        <p:txBody>
          <a:bodyPr wrap="square" anchor="t" lIns="50800" rIns="50800" tIns="25400" bIns="25400">
            <a:spAutoFit/>
          </a:bodyPr>
          <a:lstStyle/>
          <a:p>
            <a:pPr algn="l"/>
            <a:r>
              <a:rPr sz="1500" b="1" i="0">
                <a:solidFill>
                  <a:srgbClr val="E63946"/>
                </a:solidFill>
                <a:latin typeface="Montserrat"/>
              </a:rPr>
              <a:t>Élections</a:t>
            </a:r>
          </a:p>
        </p:txBody>
      </p:sp>
      <p:sp>
        <p:nvSpPr>
          <p:cNvPr id="20" name="TextBox 19"/>
          <p:cNvSpPr txBox="1"/>
          <p:nvPr/>
        </p:nvSpPr>
        <p:spPr>
          <a:xfrm>
            <a:off x="4572000" y="3995928"/>
            <a:ext cx="3200400" cy="640080"/>
          </a:xfrm>
          <a:prstGeom prst="rect">
            <a:avLst/>
          </a:prstGeom>
          <a:noFill/>
        </p:spPr>
        <p:txBody>
          <a:bodyPr wrap="square" anchor="t" lIns="50800" rIns="50800" tIns="25400" bIns="25400">
            <a:spAutoFit/>
          </a:bodyPr>
          <a:lstStyle/>
          <a:p>
            <a:pPr algn="l"/>
            <a:r>
              <a:rPr sz="1150" b="0" i="0">
                <a:solidFill>
                  <a:srgbClr val="2D3748"/>
                </a:solidFill>
                <a:latin typeface="Inter"/>
              </a:rPr>
              <a:t>100 % MANUELLES</a:t>
            </a:r>
          </a:p>
        </p:txBody>
      </p:sp>
      <p:sp>
        <p:nvSpPr>
          <p:cNvPr id="21" name="Rounded Rectangle 20"/>
          <p:cNvSpPr/>
          <p:nvPr/>
        </p:nvSpPr>
        <p:spPr>
          <a:xfrm>
            <a:off x="8046720" y="3429000"/>
            <a:ext cx="3520440" cy="1234440"/>
          </a:xfrm>
          <a:prstGeom prst="roundRect">
            <a:avLst>
              <a:gd name="adj" fmla="val 8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611880"/>
            <a:ext cx="3200400" cy="914400"/>
          </a:xfrm>
          <a:prstGeom prst="rect">
            <a:avLst/>
          </a:prstGeom>
          <a:noFill/>
        </p:spPr>
        <p:txBody>
          <a:bodyPr wrap="square" anchor="ctr" lIns="50800" rIns="50800" tIns="25400" bIns="25400">
            <a:spAutoFit/>
          </a:bodyPr>
          <a:lstStyle/>
          <a:p>
            <a:pPr algn="l"/>
            <a:r>
              <a:rPr sz="1600" b="1" i="0">
                <a:solidFill>
                  <a:srgbClr val="FFFFFF"/>
                </a:solidFill>
                <a:latin typeface="Montserrat"/>
              </a:rPr>
              <a:t>Tout converge</a:t>
            </a:r>
          </a:p>
          <a:p>
            <a:pPr algn="l"/>
            <a:r>
              <a:rPr sz="1400" b="1" i="0">
                <a:solidFill>
                  <a:srgbClr val="2EC4B6"/>
                </a:solidFill>
                <a:latin typeface="Montserrat"/>
              </a:rPr>
              <a:t>physiquement vers Nouakchott</a:t>
            </a:r>
          </a:p>
        </p:txBody>
      </p:sp>
      <p:sp>
        <p:nvSpPr>
          <p:cNvPr id="23" name="TextBox 22"/>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24" name="TextBox 23"/>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E63946"/>
                </a:solidFill>
                <a:latin typeface="Montserrat"/>
              </a:rPr>
              <a:t>2 · LE PROBLÈME</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Le vrai problème : l'absence de système d'information</a:t>
            </a:r>
          </a:p>
        </p:txBody>
      </p:sp>
      <p:sp>
        <p:nvSpPr>
          <p:cNvPr id="5" name="Rectangle 4"/>
          <p:cNvSpPr/>
          <p:nvPr/>
        </p:nvSpPr>
        <p:spPr>
          <a:xfrm>
            <a:off x="566928" y="1572768"/>
            <a:ext cx="1463040" cy="4572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4206240" cy="365760"/>
          </a:xfrm>
          <a:prstGeom prst="rect">
            <a:avLst/>
          </a:prstGeom>
          <a:noFill/>
        </p:spPr>
        <p:txBody>
          <a:bodyPr wrap="square" anchor="t" lIns="50800" rIns="50800" tIns="25400" bIns="25400">
            <a:spAutoFit/>
          </a:bodyPr>
          <a:lstStyle/>
          <a:p>
            <a:pPr algn="l"/>
            <a:r>
              <a:rPr sz="1300" b="1" i="0">
                <a:solidFill>
                  <a:srgbClr val="E63946"/>
                </a:solidFill>
                <a:latin typeface="Montserrat"/>
              </a:rPr>
              <a:t>CAUSE</a:t>
            </a:r>
          </a:p>
        </p:txBody>
      </p:sp>
      <p:sp>
        <p:nvSpPr>
          <p:cNvPr id="7" name="TextBox 6"/>
          <p:cNvSpPr txBox="1"/>
          <p:nvPr/>
        </p:nvSpPr>
        <p:spPr>
          <a:xfrm>
            <a:off x="5486400" y="1874519"/>
            <a:ext cx="6035040" cy="365760"/>
          </a:xfrm>
          <a:prstGeom prst="rect">
            <a:avLst/>
          </a:prstGeom>
          <a:noFill/>
        </p:spPr>
        <p:txBody>
          <a:bodyPr wrap="square" anchor="t" lIns="50800" rIns="50800" tIns="25400" bIns="25400">
            <a:spAutoFit/>
          </a:bodyPr>
          <a:lstStyle/>
          <a:p>
            <a:pPr algn="l"/>
            <a:r>
              <a:rPr sz="1300" b="1" i="0">
                <a:solidFill>
                  <a:srgbClr val="2D3748"/>
                </a:solidFill>
                <a:latin typeface="Montserrat"/>
              </a:rPr>
              <a:t>CONSÉQUENCE</a:t>
            </a:r>
          </a:p>
        </p:txBody>
      </p:sp>
      <p:sp>
        <p:nvSpPr>
          <p:cNvPr id="8" name="Rounded Rectangle 7"/>
          <p:cNvSpPr/>
          <p:nvPr/>
        </p:nvSpPr>
        <p:spPr>
          <a:xfrm>
            <a:off x="640080" y="2286000"/>
            <a:ext cx="4480560" cy="566928"/>
          </a:xfrm>
          <a:prstGeom prst="roundRect">
            <a:avLst>
              <a:gd name="adj" fmla="val 15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86000"/>
            <a:ext cx="4206240" cy="566928"/>
          </a:xfrm>
          <a:prstGeom prst="rect">
            <a:avLst/>
          </a:prstGeom>
          <a:noFill/>
        </p:spPr>
        <p:txBody>
          <a:bodyPr wrap="square" anchor="ctr" lIns="50800" rIns="50800" tIns="25400" bIns="25400">
            <a:spAutoFit/>
          </a:bodyPr>
          <a:lstStyle/>
          <a:p>
            <a:pPr algn="l"/>
            <a:r>
              <a:rPr sz="1300" b="1" i="0">
                <a:solidFill>
                  <a:srgbClr val="E63946"/>
                </a:solidFill>
                <a:latin typeface="Montserrat"/>
              </a:rPr>
              <a:t>Procédures manuelles</a:t>
            </a:r>
          </a:p>
        </p:txBody>
      </p:sp>
      <p:sp>
        <p:nvSpPr>
          <p:cNvPr id="10" name="Chevron 9"/>
          <p:cNvSpPr/>
          <p:nvPr/>
        </p:nvSpPr>
        <p:spPr>
          <a:xfrm>
            <a:off x="5212080" y="2478024"/>
            <a:ext cx="274320" cy="182880"/>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0" y="2286000"/>
            <a:ext cx="6080760" cy="566928"/>
          </a:xfrm>
          <a:prstGeom prst="roundRect">
            <a:avLst>
              <a:gd name="adj" fmla="val 15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0" y="2286000"/>
            <a:ext cx="5760720" cy="566928"/>
          </a:xfrm>
          <a:prstGeom prst="rect">
            <a:avLst/>
          </a:prstGeom>
          <a:noFill/>
        </p:spPr>
        <p:txBody>
          <a:bodyPr wrap="square" anchor="ctr" lIns="50800" rIns="50800" tIns="25400" bIns="25400">
            <a:spAutoFit/>
          </a:bodyPr>
          <a:lstStyle/>
          <a:p>
            <a:pPr algn="l"/>
            <a:r>
              <a:rPr sz="1250" b="0" i="0">
                <a:solidFill>
                  <a:srgbClr val="2D3748"/>
                </a:solidFill>
                <a:latin typeface="Inter"/>
              </a:rPr>
              <a:t>Retards, erreurs de saisie, temps agent gaspillé</a:t>
            </a:r>
          </a:p>
        </p:txBody>
      </p:sp>
      <p:sp>
        <p:nvSpPr>
          <p:cNvPr id="13" name="Rounded Rectangle 12"/>
          <p:cNvSpPr/>
          <p:nvPr/>
        </p:nvSpPr>
        <p:spPr>
          <a:xfrm>
            <a:off x="640080" y="2944368"/>
            <a:ext cx="4480560" cy="566928"/>
          </a:xfrm>
          <a:prstGeom prst="roundRect">
            <a:avLst>
              <a:gd name="adj" fmla="val 15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44368"/>
            <a:ext cx="4206240" cy="566928"/>
          </a:xfrm>
          <a:prstGeom prst="rect">
            <a:avLst/>
          </a:prstGeom>
          <a:noFill/>
        </p:spPr>
        <p:txBody>
          <a:bodyPr wrap="square" anchor="ctr" lIns="50800" rIns="50800" tIns="25400" bIns="25400">
            <a:spAutoFit/>
          </a:bodyPr>
          <a:lstStyle/>
          <a:p>
            <a:pPr algn="l"/>
            <a:r>
              <a:rPr sz="1300" b="1" i="0">
                <a:solidFill>
                  <a:srgbClr val="E63946"/>
                </a:solidFill>
                <a:latin typeface="Montserrat"/>
              </a:rPr>
              <a:t>Suivi dispersé</a:t>
            </a:r>
          </a:p>
        </p:txBody>
      </p:sp>
      <p:sp>
        <p:nvSpPr>
          <p:cNvPr id="15" name="Chevron 14"/>
          <p:cNvSpPr/>
          <p:nvPr/>
        </p:nvSpPr>
        <p:spPr>
          <a:xfrm>
            <a:off x="5212080" y="3136391"/>
            <a:ext cx="274320" cy="182880"/>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0" y="2944368"/>
            <a:ext cx="6080760" cy="566928"/>
          </a:xfrm>
          <a:prstGeom prst="roundRect">
            <a:avLst>
              <a:gd name="adj" fmla="val 15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944368"/>
            <a:ext cx="5760720" cy="566928"/>
          </a:xfrm>
          <a:prstGeom prst="rect">
            <a:avLst/>
          </a:prstGeom>
          <a:noFill/>
        </p:spPr>
        <p:txBody>
          <a:bodyPr wrap="square" anchor="ctr" lIns="50800" rIns="50800" tIns="25400" bIns="25400">
            <a:spAutoFit/>
          </a:bodyPr>
          <a:lstStyle/>
          <a:p>
            <a:pPr algn="l"/>
            <a:r>
              <a:rPr sz="1250" b="0" i="0">
                <a:solidFill>
                  <a:srgbClr val="2D3748"/>
                </a:solidFill>
                <a:latin typeface="Inter"/>
              </a:rPr>
              <a:t>Aucun historique, aucune visibilité (médecin ET admin)</a:t>
            </a:r>
          </a:p>
        </p:txBody>
      </p:sp>
      <p:sp>
        <p:nvSpPr>
          <p:cNvPr id="18" name="Rounded Rectangle 17"/>
          <p:cNvSpPr/>
          <p:nvPr/>
        </p:nvSpPr>
        <p:spPr>
          <a:xfrm>
            <a:off x="640080" y="3602736"/>
            <a:ext cx="4480560" cy="566928"/>
          </a:xfrm>
          <a:prstGeom prst="roundRect">
            <a:avLst>
              <a:gd name="adj" fmla="val 15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02736"/>
            <a:ext cx="4206240" cy="566928"/>
          </a:xfrm>
          <a:prstGeom prst="rect">
            <a:avLst/>
          </a:prstGeom>
          <a:noFill/>
        </p:spPr>
        <p:txBody>
          <a:bodyPr wrap="square" anchor="ctr" lIns="50800" rIns="50800" tIns="25400" bIns="25400">
            <a:spAutoFit/>
          </a:bodyPr>
          <a:lstStyle/>
          <a:p>
            <a:pPr algn="l"/>
            <a:r>
              <a:rPr sz="1300" b="1" i="0">
                <a:solidFill>
                  <a:srgbClr val="FFFFFF"/>
                </a:solidFill>
                <a:latin typeface="Montserrat"/>
              </a:rPr>
              <a:t>Données Excel</a:t>
            </a:r>
          </a:p>
        </p:txBody>
      </p:sp>
      <p:sp>
        <p:nvSpPr>
          <p:cNvPr id="20" name="Chevron 19"/>
          <p:cNvSpPr/>
          <p:nvPr/>
        </p:nvSpPr>
        <p:spPr>
          <a:xfrm>
            <a:off x="5212080" y="3794760"/>
            <a:ext cx="274320" cy="182880"/>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86400" y="3602736"/>
            <a:ext cx="6080760" cy="566928"/>
          </a:xfrm>
          <a:prstGeom prst="roundRect">
            <a:avLst>
              <a:gd name="adj" fmla="val 15000"/>
            </a:avLst>
          </a:prstGeom>
          <a:solidFill>
            <a:srgbClr val="FBE3E0"/>
          </a:solidFill>
          <a:ln w="1524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3602736"/>
            <a:ext cx="5760720" cy="566928"/>
          </a:xfrm>
          <a:prstGeom prst="rect">
            <a:avLst/>
          </a:prstGeom>
          <a:noFill/>
        </p:spPr>
        <p:txBody>
          <a:bodyPr wrap="square" anchor="ctr" lIns="50800" rIns="50800" tIns="25400" bIns="25400">
            <a:spAutoFit/>
          </a:bodyPr>
          <a:lstStyle/>
          <a:p>
            <a:pPr algn="l"/>
            <a:r>
              <a:rPr sz="1250" b="1" i="0">
                <a:solidFill>
                  <a:srgbClr val="2D3748"/>
                </a:solidFill>
                <a:latin typeface="Inter"/>
              </a:rPr>
              <a:t>Aucune traçabilité, aucun contrôle d'accès → risque légal</a:t>
            </a:r>
          </a:p>
        </p:txBody>
      </p:sp>
      <p:sp>
        <p:nvSpPr>
          <p:cNvPr id="23" name="Rounded Rectangle 22"/>
          <p:cNvSpPr/>
          <p:nvPr/>
        </p:nvSpPr>
        <p:spPr>
          <a:xfrm>
            <a:off x="640080" y="4261104"/>
            <a:ext cx="4480560" cy="566928"/>
          </a:xfrm>
          <a:prstGeom prst="roundRect">
            <a:avLst>
              <a:gd name="adj" fmla="val 15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261104"/>
            <a:ext cx="4206240" cy="566928"/>
          </a:xfrm>
          <a:prstGeom prst="rect">
            <a:avLst/>
          </a:prstGeom>
          <a:noFill/>
        </p:spPr>
        <p:txBody>
          <a:bodyPr wrap="square" anchor="ctr" lIns="50800" rIns="50800" tIns="25400" bIns="25400">
            <a:spAutoFit/>
          </a:bodyPr>
          <a:lstStyle/>
          <a:p>
            <a:pPr algn="l"/>
            <a:r>
              <a:rPr sz="1300" b="1" i="0">
                <a:solidFill>
                  <a:srgbClr val="E63946"/>
                </a:solidFill>
                <a:latin typeface="Montserrat"/>
              </a:rPr>
              <a:t>Réclamations papier</a:t>
            </a:r>
          </a:p>
        </p:txBody>
      </p:sp>
      <p:sp>
        <p:nvSpPr>
          <p:cNvPr id="25" name="Chevron 24"/>
          <p:cNvSpPr/>
          <p:nvPr/>
        </p:nvSpPr>
        <p:spPr>
          <a:xfrm>
            <a:off x="5212080" y="4453128"/>
            <a:ext cx="274320" cy="182880"/>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0" y="4261104"/>
            <a:ext cx="6080760" cy="566928"/>
          </a:xfrm>
          <a:prstGeom prst="roundRect">
            <a:avLst>
              <a:gd name="adj" fmla="val 15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4261104"/>
            <a:ext cx="5760720" cy="566928"/>
          </a:xfrm>
          <a:prstGeom prst="rect">
            <a:avLst/>
          </a:prstGeom>
          <a:noFill/>
        </p:spPr>
        <p:txBody>
          <a:bodyPr wrap="square" anchor="ctr" lIns="50800" rIns="50800" tIns="25400" bIns="25400">
            <a:spAutoFit/>
          </a:bodyPr>
          <a:lstStyle/>
          <a:p>
            <a:pPr algn="l"/>
            <a:r>
              <a:rPr sz="1250" b="0" i="0">
                <a:solidFill>
                  <a:srgbClr val="2D3748"/>
                </a:solidFill>
                <a:latin typeface="Inter"/>
              </a:rPr>
              <a:t>Impossibles à exploiter collectivement</a:t>
            </a:r>
          </a:p>
        </p:txBody>
      </p:sp>
      <p:sp>
        <p:nvSpPr>
          <p:cNvPr id="28" name="Rounded Rectangle 27"/>
          <p:cNvSpPr/>
          <p:nvPr/>
        </p:nvSpPr>
        <p:spPr>
          <a:xfrm>
            <a:off x="640080" y="4919472"/>
            <a:ext cx="4480560" cy="566928"/>
          </a:xfrm>
          <a:prstGeom prst="roundRect">
            <a:avLst>
              <a:gd name="adj" fmla="val 15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19472"/>
            <a:ext cx="4206240" cy="566928"/>
          </a:xfrm>
          <a:prstGeom prst="rect">
            <a:avLst/>
          </a:prstGeom>
          <a:noFill/>
        </p:spPr>
        <p:txBody>
          <a:bodyPr wrap="square" anchor="ctr" lIns="50800" rIns="50800" tIns="25400" bIns="25400">
            <a:spAutoFit/>
          </a:bodyPr>
          <a:lstStyle/>
          <a:p>
            <a:pPr algn="l"/>
            <a:r>
              <a:rPr sz="1300" b="1" i="0">
                <a:solidFill>
                  <a:srgbClr val="E63946"/>
                </a:solidFill>
                <a:latin typeface="Montserrat"/>
              </a:rPr>
              <a:t>Aucun espace médecin</a:t>
            </a:r>
          </a:p>
        </p:txBody>
      </p:sp>
      <p:sp>
        <p:nvSpPr>
          <p:cNvPr id="30" name="Chevron 29"/>
          <p:cNvSpPr/>
          <p:nvPr/>
        </p:nvSpPr>
        <p:spPr>
          <a:xfrm>
            <a:off x="5212080" y="5111496"/>
            <a:ext cx="274320" cy="182880"/>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486400" y="4919472"/>
            <a:ext cx="6080760" cy="566928"/>
          </a:xfrm>
          <a:prstGeom prst="roundRect">
            <a:avLst>
              <a:gd name="adj" fmla="val 15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4919472"/>
            <a:ext cx="5760720" cy="566928"/>
          </a:xfrm>
          <a:prstGeom prst="rect">
            <a:avLst/>
          </a:prstGeom>
          <a:noFill/>
        </p:spPr>
        <p:txBody>
          <a:bodyPr wrap="square" anchor="ctr" lIns="50800" rIns="50800" tIns="25400" bIns="25400">
            <a:spAutoFit/>
          </a:bodyPr>
          <a:lstStyle/>
          <a:p>
            <a:pPr algn="l"/>
            <a:r>
              <a:rPr sz="1250" b="0" i="0">
                <a:solidFill>
                  <a:srgbClr val="2D3748"/>
                </a:solidFill>
                <a:latin typeface="Inter"/>
              </a:rPr>
              <a:t>Tout repose sur l'informel</a:t>
            </a:r>
          </a:p>
        </p:txBody>
      </p:sp>
      <p:sp>
        <p:nvSpPr>
          <p:cNvPr id="33" name="Rounded Rectangle 32"/>
          <p:cNvSpPr/>
          <p:nvPr/>
        </p:nvSpPr>
        <p:spPr>
          <a:xfrm>
            <a:off x="640080" y="5577840"/>
            <a:ext cx="4480560" cy="566928"/>
          </a:xfrm>
          <a:prstGeom prst="roundRect">
            <a:avLst>
              <a:gd name="adj" fmla="val 15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77840"/>
            <a:ext cx="4206240" cy="566928"/>
          </a:xfrm>
          <a:prstGeom prst="rect">
            <a:avLst/>
          </a:prstGeom>
          <a:noFill/>
        </p:spPr>
        <p:txBody>
          <a:bodyPr wrap="square" anchor="ctr" lIns="50800" rIns="50800" tIns="25400" bIns="25400">
            <a:spAutoFit/>
          </a:bodyPr>
          <a:lstStyle/>
          <a:p>
            <a:pPr algn="l"/>
            <a:r>
              <a:rPr sz="1300" b="1" i="0">
                <a:solidFill>
                  <a:srgbClr val="E63946"/>
                </a:solidFill>
                <a:latin typeface="Montserrat"/>
              </a:rPr>
              <a:t>Élections manuelles</a:t>
            </a:r>
          </a:p>
        </p:txBody>
      </p:sp>
      <p:sp>
        <p:nvSpPr>
          <p:cNvPr id="35" name="Chevron 34"/>
          <p:cNvSpPr/>
          <p:nvPr/>
        </p:nvSpPr>
        <p:spPr>
          <a:xfrm>
            <a:off x="5212080" y="5769864"/>
            <a:ext cx="274320" cy="182880"/>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86400" y="5577840"/>
            <a:ext cx="6080760" cy="566928"/>
          </a:xfrm>
          <a:prstGeom prst="roundRect">
            <a:avLst>
              <a:gd name="adj" fmla="val 15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0" y="5577840"/>
            <a:ext cx="5760720" cy="566928"/>
          </a:xfrm>
          <a:prstGeom prst="rect">
            <a:avLst/>
          </a:prstGeom>
          <a:noFill/>
        </p:spPr>
        <p:txBody>
          <a:bodyPr wrap="square" anchor="ctr" lIns="50800" rIns="50800" tIns="25400" bIns="25400">
            <a:spAutoFit/>
          </a:bodyPr>
          <a:lstStyle/>
          <a:p>
            <a:pPr algn="l"/>
            <a:r>
              <a:rPr sz="1250" b="0" i="0">
                <a:solidFill>
                  <a:srgbClr val="2D3748"/>
                </a:solidFill>
                <a:latin typeface="Inter"/>
              </a:rPr>
              <a:t>Participation des régions éloignées limitée</a:t>
            </a:r>
          </a:p>
        </p:txBody>
      </p:sp>
      <p:sp>
        <p:nvSpPr>
          <p:cNvPr id="38" name="TextBox 37"/>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9" name="TextBox 38"/>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3D6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457200"/>
          </a:xfrm>
          <a:prstGeom prst="rect">
            <a:avLst/>
          </a:prstGeom>
          <a:noFill/>
        </p:spPr>
        <p:txBody>
          <a:bodyPr wrap="square" anchor="t" lIns="50800" rIns="50800" tIns="25400" bIns="25400">
            <a:spAutoFit/>
          </a:bodyPr>
          <a:lstStyle/>
          <a:p>
            <a:pPr algn="l"/>
            <a:r>
              <a:rPr sz="1500" b="1" i="0">
                <a:solidFill>
                  <a:srgbClr val="1B9AAA"/>
                </a:solidFill>
                <a:latin typeface="Montserrat"/>
              </a:rPr>
              <a:t>LA QUESTION CENTRALE</a:t>
            </a:r>
          </a:p>
        </p:txBody>
      </p:sp>
      <p:sp>
        <p:nvSpPr>
          <p:cNvPr id="4" name="Rounded Rectangle 3"/>
          <p:cNvSpPr/>
          <p:nvPr/>
        </p:nvSpPr>
        <p:spPr>
          <a:xfrm>
            <a:off x="1005840" y="1463040"/>
            <a:ext cx="10149840" cy="2286000"/>
          </a:xfrm>
          <a:prstGeom prst="roundRect">
            <a:avLst>
              <a:gd name="adj" fmla="val 6000"/>
            </a:avLst>
          </a:prstGeom>
          <a:solidFill>
            <a:srgbClr val="0E4F7C"/>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1463040"/>
            <a:ext cx="128016" cy="22860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737360"/>
            <a:ext cx="9509760" cy="1783080"/>
          </a:xfrm>
          <a:prstGeom prst="rect">
            <a:avLst/>
          </a:prstGeom>
          <a:noFill/>
        </p:spPr>
        <p:txBody>
          <a:bodyPr wrap="square" anchor="ctr" lIns="50800" rIns="50800" tIns="25400" bIns="25400">
            <a:spAutoFit/>
          </a:bodyPr>
          <a:lstStyle/>
          <a:p>
            <a:pPr algn="l"/>
            <a:r>
              <a:rPr sz="2200" b="0" i="0">
                <a:solidFill>
                  <a:srgbClr val="FFFFFF"/>
                </a:solidFill>
                <a:latin typeface="Inter"/>
              </a:rPr>
              <a:t>Comment doter l'ONMM d'une plateforme centralisée, sécurisée et accessible qui structure ses démarches, assure le suivi et la traçabilité des dossiers, et fluidifie les échanges entre l'administration, les médecins et le public ?</a:t>
            </a:r>
          </a:p>
        </p:txBody>
      </p:sp>
      <p:sp>
        <p:nvSpPr>
          <p:cNvPr id="7" name="Rounded Rectangle 6"/>
          <p:cNvSpPr/>
          <p:nvPr/>
        </p:nvSpPr>
        <p:spPr>
          <a:xfrm>
            <a:off x="868680" y="4297680"/>
            <a:ext cx="2514600" cy="1463040"/>
          </a:xfrm>
          <a:prstGeom prst="roundRect">
            <a:avLst>
              <a:gd name="adj" fmla="val 10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4297680"/>
            <a:ext cx="2514600" cy="1097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560" y="4526280"/>
            <a:ext cx="502920" cy="50292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526280"/>
            <a:ext cx="502920" cy="502920"/>
          </a:xfrm>
          <a:prstGeom prst="rect">
            <a:avLst/>
          </a:prstGeom>
          <a:noFill/>
        </p:spPr>
        <p:txBody>
          <a:bodyPr wrap="square" anchor="ctr" lIns="50800" rIns="50800" tIns="25400" bIns="25400">
            <a:spAutoFit/>
          </a:bodyPr>
          <a:lstStyle/>
          <a:p>
            <a:pPr algn="ctr"/>
            <a:r>
              <a:rPr sz="1700" b="1" i="0">
                <a:solidFill>
                  <a:srgbClr val="FFFFFF"/>
                </a:solidFill>
                <a:latin typeface="Montserrat"/>
              </a:rPr>
              <a:t>1</a:t>
            </a:r>
          </a:p>
        </p:txBody>
      </p:sp>
      <p:sp>
        <p:nvSpPr>
          <p:cNvPr id="11" name="TextBox 10"/>
          <p:cNvSpPr txBox="1"/>
          <p:nvPr/>
        </p:nvSpPr>
        <p:spPr>
          <a:xfrm>
            <a:off x="1645919" y="4526280"/>
            <a:ext cx="1645920" cy="1005840"/>
          </a:xfrm>
          <a:prstGeom prst="rect">
            <a:avLst/>
          </a:prstGeom>
          <a:noFill/>
        </p:spPr>
        <p:txBody>
          <a:bodyPr wrap="square" anchor="ctr" lIns="50800" rIns="50800" tIns="25400" bIns="25400">
            <a:spAutoFit/>
          </a:bodyPr>
          <a:lstStyle/>
          <a:p>
            <a:pPr algn="l"/>
            <a:r>
              <a:rPr sz="1400" b="1" i="0">
                <a:solidFill>
                  <a:srgbClr val="0A3D62"/>
                </a:solidFill>
                <a:latin typeface="Montserrat"/>
              </a:rPr>
              <a:t>Centraliser</a:t>
            </a:r>
          </a:p>
        </p:txBody>
      </p:sp>
      <p:sp>
        <p:nvSpPr>
          <p:cNvPr id="12" name="Rounded Rectangle 11"/>
          <p:cNvSpPr/>
          <p:nvPr/>
        </p:nvSpPr>
        <p:spPr>
          <a:xfrm>
            <a:off x="3611880" y="4297680"/>
            <a:ext cx="2514600" cy="1463040"/>
          </a:xfrm>
          <a:prstGeom prst="roundRect">
            <a:avLst>
              <a:gd name="adj" fmla="val 10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11880" y="4297680"/>
            <a:ext cx="2514600" cy="10972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94760" y="4526280"/>
            <a:ext cx="502920" cy="50292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60" y="4526280"/>
            <a:ext cx="502920" cy="502920"/>
          </a:xfrm>
          <a:prstGeom prst="rect">
            <a:avLst/>
          </a:prstGeom>
          <a:noFill/>
        </p:spPr>
        <p:txBody>
          <a:bodyPr wrap="square" anchor="ctr" lIns="50800" rIns="50800" tIns="25400" bIns="25400">
            <a:spAutoFit/>
          </a:bodyPr>
          <a:lstStyle/>
          <a:p>
            <a:pPr algn="ctr"/>
            <a:r>
              <a:rPr sz="1700" b="1" i="0">
                <a:solidFill>
                  <a:srgbClr val="FFFFFF"/>
                </a:solidFill>
                <a:latin typeface="Montserrat"/>
              </a:rPr>
              <a:t>2</a:t>
            </a:r>
          </a:p>
        </p:txBody>
      </p:sp>
      <p:sp>
        <p:nvSpPr>
          <p:cNvPr id="16" name="TextBox 15"/>
          <p:cNvSpPr txBox="1"/>
          <p:nvPr/>
        </p:nvSpPr>
        <p:spPr>
          <a:xfrm>
            <a:off x="4389120" y="4526280"/>
            <a:ext cx="1645920" cy="1005840"/>
          </a:xfrm>
          <a:prstGeom prst="rect">
            <a:avLst/>
          </a:prstGeom>
          <a:noFill/>
        </p:spPr>
        <p:txBody>
          <a:bodyPr wrap="square" anchor="ctr" lIns="50800" rIns="50800" tIns="25400" bIns="25400">
            <a:spAutoFit/>
          </a:bodyPr>
          <a:lstStyle/>
          <a:p>
            <a:pPr algn="l"/>
            <a:r>
              <a:rPr sz="1400" b="1" i="0">
                <a:solidFill>
                  <a:srgbClr val="0A3D62"/>
                </a:solidFill>
                <a:latin typeface="Montserrat"/>
              </a:rPr>
              <a:t>Dématérialiser</a:t>
            </a:r>
          </a:p>
          <a:p>
            <a:pPr algn="l"/>
            <a:r>
              <a:rPr sz="1400" b="1" i="0">
                <a:solidFill>
                  <a:srgbClr val="0A3D62"/>
                </a:solidFill>
                <a:latin typeface="Montserrat"/>
              </a:rPr>
              <a:t>&amp; suivre</a:t>
            </a:r>
          </a:p>
        </p:txBody>
      </p:sp>
      <p:sp>
        <p:nvSpPr>
          <p:cNvPr id="17" name="Rounded Rectangle 16"/>
          <p:cNvSpPr/>
          <p:nvPr/>
        </p:nvSpPr>
        <p:spPr>
          <a:xfrm>
            <a:off x="6355080" y="4297680"/>
            <a:ext cx="2514600" cy="1463040"/>
          </a:xfrm>
          <a:prstGeom prst="roundRect">
            <a:avLst>
              <a:gd name="adj" fmla="val 10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4297680"/>
            <a:ext cx="2514600" cy="109728"/>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37960" y="4526280"/>
            <a:ext cx="502920" cy="502920"/>
          </a:xfrm>
          <a:prstGeom prst="roundRect">
            <a:avLst>
              <a:gd name="adj" fmla="val 50000"/>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526280"/>
            <a:ext cx="502920" cy="502920"/>
          </a:xfrm>
          <a:prstGeom prst="rect">
            <a:avLst/>
          </a:prstGeom>
          <a:noFill/>
        </p:spPr>
        <p:txBody>
          <a:bodyPr wrap="square" anchor="ctr" lIns="50800" rIns="50800" tIns="25400" bIns="25400">
            <a:spAutoFit/>
          </a:bodyPr>
          <a:lstStyle/>
          <a:p>
            <a:pPr algn="ctr"/>
            <a:r>
              <a:rPr sz="1700" b="1" i="0">
                <a:solidFill>
                  <a:srgbClr val="FFFFFF"/>
                </a:solidFill>
                <a:latin typeface="Montserrat"/>
              </a:rPr>
              <a:t>3</a:t>
            </a:r>
          </a:p>
        </p:txBody>
      </p:sp>
      <p:sp>
        <p:nvSpPr>
          <p:cNvPr id="21" name="TextBox 20"/>
          <p:cNvSpPr txBox="1"/>
          <p:nvPr/>
        </p:nvSpPr>
        <p:spPr>
          <a:xfrm>
            <a:off x="7132320" y="4526280"/>
            <a:ext cx="1645920" cy="1005840"/>
          </a:xfrm>
          <a:prstGeom prst="rect">
            <a:avLst/>
          </a:prstGeom>
          <a:noFill/>
        </p:spPr>
        <p:txBody>
          <a:bodyPr wrap="square" anchor="ctr" lIns="50800" rIns="50800" tIns="25400" bIns="25400">
            <a:spAutoFit/>
          </a:bodyPr>
          <a:lstStyle/>
          <a:p>
            <a:pPr algn="l"/>
            <a:r>
              <a:rPr sz="1400" b="1" i="0">
                <a:solidFill>
                  <a:srgbClr val="0A3D62"/>
                </a:solidFill>
                <a:latin typeface="Montserrat"/>
              </a:rPr>
              <a:t>Sécuriser</a:t>
            </a:r>
          </a:p>
          <a:p>
            <a:pPr algn="l"/>
            <a:r>
              <a:rPr sz="1400" b="1" i="0">
                <a:solidFill>
                  <a:srgbClr val="0A3D62"/>
                </a:solidFill>
                <a:latin typeface="Montserrat"/>
              </a:rPr>
              <a:t>&amp; tracer</a:t>
            </a:r>
          </a:p>
        </p:txBody>
      </p:sp>
      <p:sp>
        <p:nvSpPr>
          <p:cNvPr id="22" name="Rounded Rectangle 21"/>
          <p:cNvSpPr/>
          <p:nvPr/>
        </p:nvSpPr>
        <p:spPr>
          <a:xfrm>
            <a:off x="9098280" y="4297680"/>
            <a:ext cx="2514600" cy="1463040"/>
          </a:xfrm>
          <a:prstGeom prst="roundRect">
            <a:avLst>
              <a:gd name="adj" fmla="val 10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98280" y="4297680"/>
            <a:ext cx="2514600" cy="1097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81159" y="4526280"/>
            <a:ext cx="502920" cy="50292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1159" y="4526280"/>
            <a:ext cx="502920" cy="502920"/>
          </a:xfrm>
          <a:prstGeom prst="rect">
            <a:avLst/>
          </a:prstGeom>
          <a:noFill/>
        </p:spPr>
        <p:txBody>
          <a:bodyPr wrap="square" anchor="ctr" lIns="50800" rIns="50800" tIns="25400" bIns="25400">
            <a:spAutoFit/>
          </a:bodyPr>
          <a:lstStyle/>
          <a:p>
            <a:pPr algn="ctr"/>
            <a:r>
              <a:rPr sz="1700" b="1" i="0">
                <a:solidFill>
                  <a:srgbClr val="FFFFFF"/>
                </a:solidFill>
                <a:latin typeface="Montserrat"/>
              </a:rPr>
              <a:t>4</a:t>
            </a:r>
          </a:p>
        </p:txBody>
      </p:sp>
      <p:sp>
        <p:nvSpPr>
          <p:cNvPr id="26" name="TextBox 25"/>
          <p:cNvSpPr txBox="1"/>
          <p:nvPr/>
        </p:nvSpPr>
        <p:spPr>
          <a:xfrm>
            <a:off x="9875519" y="4526280"/>
            <a:ext cx="1645920" cy="1005840"/>
          </a:xfrm>
          <a:prstGeom prst="rect">
            <a:avLst/>
          </a:prstGeom>
          <a:noFill/>
        </p:spPr>
        <p:txBody>
          <a:bodyPr wrap="square" anchor="ctr" lIns="50800" rIns="50800" tIns="25400" bIns="25400">
            <a:spAutoFit/>
          </a:bodyPr>
          <a:lstStyle/>
          <a:p>
            <a:pPr algn="l"/>
            <a:r>
              <a:rPr sz="1400" b="1" i="0">
                <a:solidFill>
                  <a:srgbClr val="0A3D62"/>
                </a:solidFill>
                <a:latin typeface="Montserrat"/>
              </a:rPr>
              <a:t>Rapprocher</a:t>
            </a:r>
          </a:p>
          <a:p>
            <a:pPr algn="l"/>
            <a:r>
              <a:rPr sz="1400" b="1" i="0">
                <a:solidFill>
                  <a:srgbClr val="0A3D62"/>
                </a:solidFill>
                <a:latin typeface="Montserrat"/>
              </a:rPr>
              <a:t>régions / public</a:t>
            </a:r>
          </a:p>
        </p:txBody>
      </p:sp>
      <p:sp>
        <p:nvSpPr>
          <p:cNvPr id="27" name="TextBox 26"/>
          <p:cNvSpPr txBox="1"/>
          <p:nvPr/>
        </p:nvSpPr>
        <p:spPr>
          <a:xfrm>
            <a:off x="640080" y="5989320"/>
            <a:ext cx="10058400" cy="365760"/>
          </a:xfrm>
          <a:prstGeom prst="rect">
            <a:avLst/>
          </a:prstGeom>
          <a:noFill/>
        </p:spPr>
        <p:txBody>
          <a:bodyPr wrap="square" anchor="t" lIns="50800" rIns="50800" tIns="25400" bIns="25400">
            <a:spAutoFit/>
          </a:bodyPr>
          <a:lstStyle/>
          <a:p>
            <a:pPr algn="l"/>
            <a:r>
              <a:rPr sz="1300" b="0" i="1">
                <a:solidFill>
                  <a:srgbClr val="C9E6EC"/>
                </a:solidFill>
                <a:latin typeface="Inter"/>
              </a:rPr>
              <a:t>Ces 4 objectifs serviront de grille d'évaluation en conclusion.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2 · LE PROBLÈME</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Ce que font les autres ordres — et ce que nous ajoutons</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3520440" cy="178308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74519"/>
            <a:ext cx="3520440" cy="109728"/>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30552"/>
            <a:ext cx="3063240" cy="548640"/>
          </a:xfrm>
          <a:prstGeom prst="rect">
            <a:avLst/>
          </a:prstGeom>
          <a:noFill/>
        </p:spPr>
        <p:txBody>
          <a:bodyPr wrap="square" anchor="t" lIns="50800" rIns="50800" tIns="25400" bIns="25400">
            <a:spAutoFit/>
          </a:bodyPr>
          <a:lstStyle/>
          <a:p>
            <a:pPr algn="l"/>
            <a:r>
              <a:rPr sz="1700" b="1" i="0">
                <a:solidFill>
                  <a:srgbClr val="0A3D62"/>
                </a:solidFill>
                <a:latin typeface="Montserrat"/>
              </a:rPr>
              <a:t>France</a:t>
            </a:r>
          </a:p>
        </p:txBody>
      </p:sp>
      <p:sp>
        <p:nvSpPr>
          <p:cNvPr id="9" name="TextBox 8"/>
          <p:cNvSpPr txBox="1"/>
          <p:nvPr/>
        </p:nvSpPr>
        <p:spPr>
          <a:xfrm>
            <a:off x="868680" y="2743200"/>
            <a:ext cx="3063240" cy="777239"/>
          </a:xfrm>
          <a:prstGeom prst="rect">
            <a:avLst/>
          </a:prstGeom>
          <a:noFill/>
        </p:spPr>
        <p:txBody>
          <a:bodyPr wrap="square" anchor="t" lIns="50800" rIns="50800" tIns="25400" bIns="25400">
            <a:spAutoFit/>
          </a:bodyPr>
          <a:lstStyle/>
          <a:p>
            <a:pPr algn="l"/>
            <a:r>
              <a:rPr sz="1250" b="0" i="0">
                <a:solidFill>
                  <a:srgbClr val="2D3748"/>
                </a:solidFill>
                <a:latin typeface="Inter"/>
              </a:rPr>
              <a:t>Espace membre sécurisé</a:t>
            </a:r>
          </a:p>
          <a:p>
            <a:pPr algn="l"/>
            <a:r>
              <a:rPr sz="1250" b="0" i="0">
                <a:solidFill>
                  <a:srgbClr val="2D3748"/>
                </a:solidFill>
                <a:latin typeface="Inter"/>
              </a:rPr>
              <a:t>+ tableau de l'Ordre</a:t>
            </a:r>
          </a:p>
        </p:txBody>
      </p:sp>
      <p:sp>
        <p:nvSpPr>
          <p:cNvPr id="10" name="Rounded Rectangle 9"/>
          <p:cNvSpPr/>
          <p:nvPr/>
        </p:nvSpPr>
        <p:spPr>
          <a:xfrm>
            <a:off x="4343400" y="1874519"/>
            <a:ext cx="3520440" cy="178308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74519"/>
            <a:ext cx="3520440" cy="109728"/>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130552"/>
            <a:ext cx="3063240" cy="548640"/>
          </a:xfrm>
          <a:prstGeom prst="rect">
            <a:avLst/>
          </a:prstGeom>
          <a:noFill/>
        </p:spPr>
        <p:txBody>
          <a:bodyPr wrap="square" anchor="t" lIns="50800" rIns="50800" tIns="25400" bIns="25400">
            <a:spAutoFit/>
          </a:bodyPr>
          <a:lstStyle/>
          <a:p>
            <a:pPr algn="l"/>
            <a:r>
              <a:rPr sz="1700" b="1" i="0">
                <a:solidFill>
                  <a:srgbClr val="0A3D62"/>
                </a:solidFill>
                <a:latin typeface="Montserrat"/>
              </a:rPr>
              <a:t>Maroc</a:t>
            </a:r>
          </a:p>
        </p:txBody>
      </p:sp>
      <p:sp>
        <p:nvSpPr>
          <p:cNvPr id="13" name="TextBox 12"/>
          <p:cNvSpPr txBox="1"/>
          <p:nvPr/>
        </p:nvSpPr>
        <p:spPr>
          <a:xfrm>
            <a:off x="4572000" y="2743200"/>
            <a:ext cx="3063240" cy="777239"/>
          </a:xfrm>
          <a:prstGeom prst="rect">
            <a:avLst/>
          </a:prstGeom>
          <a:noFill/>
        </p:spPr>
        <p:txBody>
          <a:bodyPr wrap="square" anchor="t" lIns="50800" rIns="50800" tIns="25400" bIns="25400">
            <a:spAutoFit/>
          </a:bodyPr>
          <a:lstStyle/>
          <a:p>
            <a:pPr algn="l"/>
            <a:r>
              <a:rPr sz="1250" b="0" i="0">
                <a:solidFill>
                  <a:srgbClr val="2D3748"/>
                </a:solidFill>
                <a:latin typeface="Inter"/>
              </a:rPr>
              <a:t>Info institutionnelle</a:t>
            </a:r>
          </a:p>
          <a:p>
            <a:pPr algn="l"/>
            <a:r>
              <a:rPr sz="1250" b="0" i="0">
                <a:solidFill>
                  <a:srgbClr val="2D3748"/>
                </a:solidFill>
                <a:latin typeface="Inter"/>
              </a:rPr>
              <a:t>+ tableau (contexte proche)</a:t>
            </a:r>
          </a:p>
        </p:txBody>
      </p:sp>
      <p:sp>
        <p:nvSpPr>
          <p:cNvPr id="14" name="Rounded Rectangle 13"/>
          <p:cNvSpPr/>
          <p:nvPr/>
        </p:nvSpPr>
        <p:spPr>
          <a:xfrm>
            <a:off x="8046719" y="1874519"/>
            <a:ext cx="3520440" cy="178308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9" y="1874519"/>
            <a:ext cx="3520440" cy="109728"/>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2130552"/>
            <a:ext cx="3063240" cy="548640"/>
          </a:xfrm>
          <a:prstGeom prst="rect">
            <a:avLst/>
          </a:prstGeom>
          <a:noFill/>
        </p:spPr>
        <p:txBody>
          <a:bodyPr wrap="square" anchor="t" lIns="50800" rIns="50800" tIns="25400" bIns="25400">
            <a:spAutoFit/>
          </a:bodyPr>
          <a:lstStyle/>
          <a:p>
            <a:pPr algn="l"/>
            <a:r>
              <a:rPr sz="1700" b="1" i="0">
                <a:solidFill>
                  <a:srgbClr val="0A3D62"/>
                </a:solidFill>
                <a:latin typeface="Montserrat"/>
              </a:rPr>
              <a:t>Sénégal</a:t>
            </a:r>
          </a:p>
        </p:txBody>
      </p:sp>
      <p:sp>
        <p:nvSpPr>
          <p:cNvPr id="17" name="TextBox 16"/>
          <p:cNvSpPr txBox="1"/>
          <p:nvPr/>
        </p:nvSpPr>
        <p:spPr>
          <a:xfrm>
            <a:off x="8275319" y="2743200"/>
            <a:ext cx="3063240" cy="777239"/>
          </a:xfrm>
          <a:prstGeom prst="rect">
            <a:avLst/>
          </a:prstGeom>
          <a:noFill/>
        </p:spPr>
        <p:txBody>
          <a:bodyPr wrap="square" anchor="t" lIns="50800" rIns="50800" tIns="25400" bIns="25400">
            <a:spAutoFit/>
          </a:bodyPr>
          <a:lstStyle/>
          <a:p>
            <a:pPr algn="l"/>
            <a:r>
              <a:rPr sz="1250" b="0" i="0">
                <a:solidFill>
                  <a:srgbClr val="2D3748"/>
                </a:solidFill>
                <a:latin typeface="Inter"/>
              </a:rPr>
              <a:t>Communication</a:t>
            </a:r>
          </a:p>
          <a:p>
            <a:pPr algn="l"/>
            <a:r>
              <a:rPr sz="1250" b="0" i="0">
                <a:solidFill>
                  <a:srgbClr val="2D3748"/>
                </a:solidFill>
                <a:latin typeface="Inter"/>
              </a:rPr>
              <a:t>institutionnelle</a:t>
            </a:r>
          </a:p>
        </p:txBody>
      </p:sp>
      <p:sp>
        <p:nvSpPr>
          <p:cNvPr id="18" name="Rounded Rectangle 17"/>
          <p:cNvSpPr/>
          <p:nvPr/>
        </p:nvSpPr>
        <p:spPr>
          <a:xfrm>
            <a:off x="640080" y="4023360"/>
            <a:ext cx="10927080" cy="178308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160520"/>
            <a:ext cx="10058400" cy="365760"/>
          </a:xfrm>
          <a:prstGeom prst="rect">
            <a:avLst/>
          </a:prstGeom>
          <a:noFill/>
        </p:spPr>
        <p:txBody>
          <a:bodyPr wrap="square" anchor="t" lIns="50800" rIns="50800" tIns="25400" bIns="25400">
            <a:spAutoFit/>
          </a:bodyPr>
          <a:lstStyle/>
          <a:p>
            <a:pPr algn="l"/>
            <a:r>
              <a:rPr sz="1300" b="1" i="0">
                <a:solidFill>
                  <a:srgbClr val="718096"/>
                </a:solidFill>
                <a:latin typeface="Montserrat"/>
              </a:rPr>
              <a:t>Échelle de maturité numérique</a:t>
            </a:r>
          </a:p>
        </p:txBody>
      </p:sp>
      <p:sp>
        <p:nvSpPr>
          <p:cNvPr id="20" name="Rounded Rectangle 19"/>
          <p:cNvSpPr/>
          <p:nvPr/>
        </p:nvSpPr>
        <p:spPr>
          <a:xfrm>
            <a:off x="868680" y="4709160"/>
            <a:ext cx="1828800" cy="777240"/>
          </a:xfrm>
          <a:prstGeom prst="roundRect">
            <a:avLst>
              <a:gd name="adj" fmla="val 12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709160"/>
            <a:ext cx="1828800" cy="777240"/>
          </a:xfrm>
          <a:prstGeom prst="rect">
            <a:avLst/>
          </a:prstGeom>
          <a:noFill/>
        </p:spPr>
        <p:txBody>
          <a:bodyPr wrap="square" anchor="ctr" lIns="50800" rIns="50800" tIns="25400" bIns="25400">
            <a:spAutoFit/>
          </a:bodyPr>
          <a:lstStyle/>
          <a:p>
            <a:pPr algn="ctr"/>
            <a:r>
              <a:rPr sz="1200" b="1" i="0">
                <a:solidFill>
                  <a:srgbClr val="FFFFFF"/>
                </a:solidFill>
                <a:latin typeface="Montserrat"/>
              </a:rPr>
              <a:t>Portail public</a:t>
            </a:r>
          </a:p>
        </p:txBody>
      </p:sp>
      <p:sp>
        <p:nvSpPr>
          <p:cNvPr id="22" name="Chevron 21"/>
          <p:cNvSpPr/>
          <p:nvPr/>
        </p:nvSpPr>
        <p:spPr>
          <a:xfrm>
            <a:off x="2679192" y="4983480"/>
            <a:ext cx="201168" cy="201168"/>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62072" y="4709160"/>
            <a:ext cx="1828800" cy="777240"/>
          </a:xfrm>
          <a:prstGeom prst="roundRect">
            <a:avLst>
              <a:gd name="adj" fmla="val 12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62072" y="4709160"/>
            <a:ext cx="1828800" cy="777240"/>
          </a:xfrm>
          <a:prstGeom prst="rect">
            <a:avLst/>
          </a:prstGeom>
          <a:noFill/>
        </p:spPr>
        <p:txBody>
          <a:bodyPr wrap="square" anchor="ctr" lIns="50800" rIns="50800" tIns="25400" bIns="25400">
            <a:spAutoFit/>
          </a:bodyPr>
          <a:lstStyle/>
          <a:p>
            <a:pPr algn="ctr"/>
            <a:r>
              <a:rPr sz="1200" b="1" i="0">
                <a:solidFill>
                  <a:srgbClr val="FFFFFF"/>
                </a:solidFill>
                <a:latin typeface="Montserrat"/>
              </a:rPr>
              <a:t>Annuaire</a:t>
            </a:r>
          </a:p>
        </p:txBody>
      </p:sp>
      <p:sp>
        <p:nvSpPr>
          <p:cNvPr id="25" name="Chevron 24"/>
          <p:cNvSpPr/>
          <p:nvPr/>
        </p:nvSpPr>
        <p:spPr>
          <a:xfrm>
            <a:off x="4672584" y="4983480"/>
            <a:ext cx="201168" cy="201168"/>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55464" y="4709160"/>
            <a:ext cx="1828800" cy="777240"/>
          </a:xfrm>
          <a:prstGeom prst="roundRect">
            <a:avLst>
              <a:gd name="adj" fmla="val 12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5464" y="4709160"/>
            <a:ext cx="1828800" cy="777240"/>
          </a:xfrm>
          <a:prstGeom prst="rect">
            <a:avLst/>
          </a:prstGeom>
          <a:noFill/>
        </p:spPr>
        <p:txBody>
          <a:bodyPr wrap="square" anchor="ctr" lIns="50800" rIns="50800" tIns="25400" bIns="25400">
            <a:spAutoFit/>
          </a:bodyPr>
          <a:lstStyle/>
          <a:p>
            <a:pPr algn="ctr"/>
            <a:r>
              <a:rPr sz="1200" b="1" i="0">
                <a:solidFill>
                  <a:srgbClr val="FFFFFF"/>
                </a:solidFill>
                <a:latin typeface="Montserrat"/>
              </a:rPr>
              <a:t>Espace membre</a:t>
            </a:r>
          </a:p>
        </p:txBody>
      </p:sp>
      <p:sp>
        <p:nvSpPr>
          <p:cNvPr id="28" name="Chevron 27"/>
          <p:cNvSpPr/>
          <p:nvPr/>
        </p:nvSpPr>
        <p:spPr>
          <a:xfrm>
            <a:off x="6665976" y="4983480"/>
            <a:ext cx="201168" cy="201168"/>
          </a:xfrm>
          <a:prstGeom prst="chevron">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848856" y="4709160"/>
            <a:ext cx="4206240" cy="777240"/>
          </a:xfrm>
          <a:prstGeom prst="roundRect">
            <a:avLst>
              <a:gd name="adj" fmla="val 12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48856" y="4709160"/>
            <a:ext cx="4206240" cy="777240"/>
          </a:xfrm>
          <a:prstGeom prst="rect">
            <a:avLst/>
          </a:prstGeom>
          <a:noFill/>
        </p:spPr>
        <p:txBody>
          <a:bodyPr wrap="square" anchor="ctr" lIns="50800" rIns="50800" tIns="25400" bIns="25400">
            <a:spAutoFit/>
          </a:bodyPr>
          <a:lstStyle/>
          <a:p>
            <a:pPr algn="ctr"/>
            <a:r>
              <a:rPr sz="1250" b="1" i="0">
                <a:solidFill>
                  <a:srgbClr val="FFFFFF"/>
                </a:solidFill>
                <a:latin typeface="Montserrat"/>
              </a:rPr>
              <a:t>Réclamations · Sondages · Élections en ligne</a:t>
            </a:r>
          </a:p>
        </p:txBody>
      </p:sp>
      <p:sp>
        <p:nvSpPr>
          <p:cNvPr id="31" name="TextBox 30"/>
          <p:cNvSpPr txBox="1"/>
          <p:nvPr/>
        </p:nvSpPr>
        <p:spPr>
          <a:xfrm>
            <a:off x="868680" y="5532120"/>
            <a:ext cx="10058400" cy="274320"/>
          </a:xfrm>
          <a:prstGeom prst="rect">
            <a:avLst/>
          </a:prstGeom>
          <a:noFill/>
        </p:spPr>
        <p:txBody>
          <a:bodyPr wrap="square" anchor="t" lIns="50800" rIns="50800" tIns="25400" bIns="25400">
            <a:spAutoFit/>
          </a:bodyPr>
          <a:lstStyle/>
          <a:p>
            <a:pPr algn="l"/>
            <a:r>
              <a:rPr sz="1100" b="0" i="1">
                <a:solidFill>
                  <a:srgbClr val="718096"/>
                </a:solidFill>
                <a:latin typeface="Inter"/>
              </a:rPr>
              <a:t>← Repris des bonnes pratiques        Notre valeur ajoutée ONMM →</a:t>
            </a:r>
          </a:p>
        </p:txBody>
      </p:sp>
      <p:sp>
        <p:nvSpPr>
          <p:cNvPr id="32" name="TextBox 31"/>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3" name="TextBox 32"/>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2EC4B6"/>
                </a:solidFill>
                <a:latin typeface="Montserrat"/>
              </a:rPr>
              <a:t>3 · LA SOLUTION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Une plateforme, trois espaces, huit modules</a:t>
            </a:r>
          </a:p>
        </p:txBody>
      </p:sp>
      <p:sp>
        <p:nvSpPr>
          <p:cNvPr id="5" name="Rectangle 4"/>
          <p:cNvSpPr/>
          <p:nvPr/>
        </p:nvSpPr>
        <p:spPr>
          <a:xfrm>
            <a:off x="566928" y="1572768"/>
            <a:ext cx="1463040" cy="4572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892040" y="3017520"/>
            <a:ext cx="2423160" cy="1188720"/>
          </a:xfrm>
          <a:prstGeom prst="roundRect">
            <a:avLst>
              <a:gd name="adj" fmla="val 12000"/>
            </a:avLst>
          </a:prstGeom>
          <a:solidFill>
            <a:srgbClr val="0A3D62"/>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92040" y="3017520"/>
            <a:ext cx="2423160" cy="1188720"/>
          </a:xfrm>
          <a:prstGeom prst="rect">
            <a:avLst/>
          </a:prstGeom>
          <a:noFill/>
        </p:spPr>
        <p:txBody>
          <a:bodyPr wrap="square" anchor="ctr" lIns="50800" rIns="50800" tIns="25400" bIns="25400">
            <a:spAutoFit/>
          </a:bodyPr>
          <a:lstStyle/>
          <a:p>
            <a:pPr algn="ctr"/>
            <a:r>
              <a:rPr sz="1600" b="1" i="0">
                <a:solidFill>
                  <a:srgbClr val="FFFFFF"/>
                </a:solidFill>
                <a:latin typeface="Montserrat"/>
              </a:rPr>
              <a:t>Plateforme</a:t>
            </a:r>
          </a:p>
          <a:p>
            <a:pPr algn="ctr"/>
            <a:r>
              <a:rPr sz="1600" b="1" i="0">
                <a:solidFill>
                  <a:srgbClr val="2EC4B6"/>
                </a:solidFill>
                <a:latin typeface="Montserrat"/>
              </a:rPr>
              <a:t>ONMM</a:t>
            </a:r>
          </a:p>
        </p:txBody>
      </p:sp>
      <p:sp>
        <p:nvSpPr>
          <p:cNvPr id="8" name="Rounded Rectangle 7"/>
          <p:cNvSpPr/>
          <p:nvPr/>
        </p:nvSpPr>
        <p:spPr>
          <a:xfrm>
            <a:off x="822960" y="1965960"/>
            <a:ext cx="3246120" cy="54864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3246120" cy="548640"/>
          </a:xfrm>
          <a:prstGeom prst="rect">
            <a:avLst/>
          </a:prstGeom>
          <a:noFill/>
        </p:spPr>
        <p:txBody>
          <a:bodyPr wrap="square" anchor="ctr" lIns="50800" rIns="50800" tIns="25400" bIns="25400">
            <a:spAutoFit/>
          </a:bodyPr>
          <a:lstStyle/>
          <a:p>
            <a:pPr algn="ctr"/>
            <a:r>
              <a:rPr sz="1400" b="1" i="0">
                <a:solidFill>
                  <a:srgbClr val="FFFFFF"/>
                </a:solidFill>
                <a:latin typeface="Montserrat"/>
              </a:rPr>
              <a:t>Espace PUBLIC</a:t>
            </a:r>
          </a:p>
        </p:txBody>
      </p:sp>
      <p:sp>
        <p:nvSpPr>
          <p:cNvPr id="10" name="Rounded Rectangle 9"/>
          <p:cNvSpPr/>
          <p:nvPr/>
        </p:nvSpPr>
        <p:spPr>
          <a:xfrm>
            <a:off x="4480560" y="1965960"/>
            <a:ext cx="3246120" cy="54864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965960"/>
            <a:ext cx="3246120" cy="548640"/>
          </a:xfrm>
          <a:prstGeom prst="rect">
            <a:avLst/>
          </a:prstGeom>
          <a:noFill/>
        </p:spPr>
        <p:txBody>
          <a:bodyPr wrap="square" anchor="ctr" lIns="50800" rIns="50800" tIns="25400" bIns="25400">
            <a:spAutoFit/>
          </a:bodyPr>
          <a:lstStyle/>
          <a:p>
            <a:pPr algn="ctr"/>
            <a:r>
              <a:rPr sz="1400" b="1" i="0">
                <a:solidFill>
                  <a:srgbClr val="FFFFFF"/>
                </a:solidFill>
                <a:latin typeface="Montserrat"/>
              </a:rPr>
              <a:t>Espace MÉDECIN</a:t>
            </a:r>
          </a:p>
        </p:txBody>
      </p:sp>
      <p:sp>
        <p:nvSpPr>
          <p:cNvPr id="12" name="Rounded Rectangle 11"/>
          <p:cNvSpPr/>
          <p:nvPr/>
        </p:nvSpPr>
        <p:spPr>
          <a:xfrm>
            <a:off x="8138160" y="1965960"/>
            <a:ext cx="3246120" cy="54864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965960"/>
            <a:ext cx="3246120" cy="548640"/>
          </a:xfrm>
          <a:prstGeom prst="rect">
            <a:avLst/>
          </a:prstGeom>
          <a:noFill/>
        </p:spPr>
        <p:txBody>
          <a:bodyPr wrap="square" anchor="ctr" lIns="50800" rIns="50800" tIns="25400" bIns="25400">
            <a:spAutoFit/>
          </a:bodyPr>
          <a:lstStyle/>
          <a:p>
            <a:pPr algn="ctr"/>
            <a:r>
              <a:rPr sz="1400" b="1" i="0">
                <a:solidFill>
                  <a:srgbClr val="FFFFFF"/>
                </a:solidFill>
                <a:latin typeface="Montserrat"/>
              </a:rPr>
              <a:t>Espace ADMIN</a:t>
            </a:r>
          </a:p>
        </p:txBody>
      </p:sp>
      <p:sp>
        <p:nvSpPr>
          <p:cNvPr id="14" name="Rounded Rectangle 13"/>
          <p:cNvSpPr/>
          <p:nvPr/>
        </p:nvSpPr>
        <p:spPr>
          <a:xfrm>
            <a:off x="822960" y="4572000"/>
            <a:ext cx="2606040" cy="713232"/>
          </a:xfrm>
          <a:prstGeom prst="roundRect">
            <a:avLst>
              <a:gd name="adj" fmla="val 18000"/>
            </a:avLst>
          </a:prstGeom>
          <a:solidFill>
            <a:srgbClr val="FFFFFF"/>
          </a:solidFill>
          <a:ln w="1778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572000"/>
            <a:ext cx="2606040" cy="713232"/>
          </a:xfrm>
          <a:prstGeom prst="rect">
            <a:avLst/>
          </a:prstGeom>
          <a:noFill/>
        </p:spPr>
        <p:txBody>
          <a:bodyPr wrap="square" anchor="ctr" lIns="50800" rIns="50800" tIns="25400" bIns="25400">
            <a:spAutoFit/>
          </a:bodyPr>
          <a:lstStyle/>
          <a:p>
            <a:pPr algn="ctr"/>
            <a:r>
              <a:rPr sz="1250" b="1" i="0">
                <a:solidFill>
                  <a:srgbClr val="2EC4B6"/>
                </a:solidFill>
                <a:latin typeface="Montserrat"/>
              </a:rPr>
              <a:t>Adhésions</a:t>
            </a:r>
          </a:p>
        </p:txBody>
      </p:sp>
      <p:sp>
        <p:nvSpPr>
          <p:cNvPr id="16" name="Rounded Rectangle 15"/>
          <p:cNvSpPr/>
          <p:nvPr/>
        </p:nvSpPr>
        <p:spPr>
          <a:xfrm>
            <a:off x="3611879" y="4572000"/>
            <a:ext cx="2606040" cy="713232"/>
          </a:xfrm>
          <a:prstGeom prst="roundRect">
            <a:avLst>
              <a:gd name="adj" fmla="val 18000"/>
            </a:avLst>
          </a:prstGeom>
          <a:solidFill>
            <a:srgbClr val="FFFFFF"/>
          </a:solidFill>
          <a:ln w="1778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79" y="4572000"/>
            <a:ext cx="2606040" cy="713232"/>
          </a:xfrm>
          <a:prstGeom prst="rect">
            <a:avLst/>
          </a:prstGeom>
          <a:noFill/>
        </p:spPr>
        <p:txBody>
          <a:bodyPr wrap="square" anchor="ctr" lIns="50800" rIns="50800" tIns="25400" bIns="25400">
            <a:spAutoFit/>
          </a:bodyPr>
          <a:lstStyle/>
          <a:p>
            <a:pPr algn="ctr"/>
            <a:r>
              <a:rPr sz="1250" b="1" i="0">
                <a:solidFill>
                  <a:srgbClr val="1B9AAA"/>
                </a:solidFill>
                <a:latin typeface="Montserrat"/>
              </a:rPr>
              <a:t>Registre / Annuaire</a:t>
            </a:r>
          </a:p>
        </p:txBody>
      </p:sp>
      <p:sp>
        <p:nvSpPr>
          <p:cNvPr id="18" name="Rounded Rectangle 17"/>
          <p:cNvSpPr/>
          <p:nvPr/>
        </p:nvSpPr>
        <p:spPr>
          <a:xfrm>
            <a:off x="6400800" y="4572000"/>
            <a:ext cx="2606040" cy="713232"/>
          </a:xfrm>
          <a:prstGeom prst="roundRect">
            <a:avLst>
              <a:gd name="adj" fmla="val 18000"/>
            </a:avLst>
          </a:prstGeom>
          <a:solidFill>
            <a:srgbClr val="FFFFFF"/>
          </a:solidFill>
          <a:ln w="1778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572000"/>
            <a:ext cx="2606040" cy="713232"/>
          </a:xfrm>
          <a:prstGeom prst="rect">
            <a:avLst/>
          </a:prstGeom>
          <a:noFill/>
        </p:spPr>
        <p:txBody>
          <a:bodyPr wrap="square" anchor="ctr" lIns="50800" rIns="50800" tIns="25400" bIns="25400">
            <a:spAutoFit/>
          </a:bodyPr>
          <a:lstStyle/>
          <a:p>
            <a:pPr algn="ctr"/>
            <a:r>
              <a:rPr sz="1250" b="1" i="0">
                <a:solidFill>
                  <a:srgbClr val="1B9AAA"/>
                </a:solidFill>
                <a:latin typeface="Montserrat"/>
              </a:rPr>
              <a:t>Réclamations</a:t>
            </a:r>
          </a:p>
        </p:txBody>
      </p:sp>
      <p:sp>
        <p:nvSpPr>
          <p:cNvPr id="20" name="Rounded Rectangle 19"/>
          <p:cNvSpPr/>
          <p:nvPr/>
        </p:nvSpPr>
        <p:spPr>
          <a:xfrm>
            <a:off x="9189719" y="4572000"/>
            <a:ext cx="2606040" cy="713232"/>
          </a:xfrm>
          <a:prstGeom prst="roundRect">
            <a:avLst>
              <a:gd name="adj" fmla="val 18000"/>
            </a:avLst>
          </a:prstGeom>
          <a:solidFill>
            <a:srgbClr val="FFFFFF"/>
          </a:solidFill>
          <a:ln w="1778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19" y="4572000"/>
            <a:ext cx="2606040" cy="713232"/>
          </a:xfrm>
          <a:prstGeom prst="rect">
            <a:avLst/>
          </a:prstGeom>
          <a:noFill/>
        </p:spPr>
        <p:txBody>
          <a:bodyPr wrap="square" anchor="ctr" lIns="50800" rIns="50800" tIns="25400" bIns="25400">
            <a:spAutoFit/>
          </a:bodyPr>
          <a:lstStyle/>
          <a:p>
            <a:pPr algn="ctr"/>
            <a:r>
              <a:rPr sz="1250" b="1" i="0">
                <a:solidFill>
                  <a:srgbClr val="1B9AAA"/>
                </a:solidFill>
                <a:latin typeface="Montserrat"/>
              </a:rPr>
              <a:t>Annonces</a:t>
            </a:r>
          </a:p>
        </p:txBody>
      </p:sp>
      <p:sp>
        <p:nvSpPr>
          <p:cNvPr id="22" name="Rounded Rectangle 21"/>
          <p:cNvSpPr/>
          <p:nvPr/>
        </p:nvSpPr>
        <p:spPr>
          <a:xfrm>
            <a:off x="822960" y="5440680"/>
            <a:ext cx="2606040" cy="713232"/>
          </a:xfrm>
          <a:prstGeom prst="roundRect">
            <a:avLst>
              <a:gd name="adj" fmla="val 18000"/>
            </a:avLst>
          </a:prstGeom>
          <a:solidFill>
            <a:srgbClr val="FFFFFF"/>
          </a:solidFill>
          <a:ln w="1778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440680"/>
            <a:ext cx="2606040" cy="713232"/>
          </a:xfrm>
          <a:prstGeom prst="rect">
            <a:avLst/>
          </a:prstGeom>
          <a:noFill/>
        </p:spPr>
        <p:txBody>
          <a:bodyPr wrap="square" anchor="ctr" lIns="50800" rIns="50800" tIns="25400" bIns="25400">
            <a:spAutoFit/>
          </a:bodyPr>
          <a:lstStyle/>
          <a:p>
            <a:pPr algn="ctr"/>
            <a:r>
              <a:rPr sz="1250" b="1" i="0">
                <a:solidFill>
                  <a:srgbClr val="2EC4B6"/>
                </a:solidFill>
                <a:latin typeface="Montserrat"/>
              </a:rPr>
              <a:t>Sondages</a:t>
            </a:r>
          </a:p>
        </p:txBody>
      </p:sp>
      <p:sp>
        <p:nvSpPr>
          <p:cNvPr id="24" name="Rounded Rectangle 23"/>
          <p:cNvSpPr/>
          <p:nvPr/>
        </p:nvSpPr>
        <p:spPr>
          <a:xfrm>
            <a:off x="3611879" y="5440680"/>
            <a:ext cx="2606040" cy="713232"/>
          </a:xfrm>
          <a:prstGeom prst="roundRect">
            <a:avLst>
              <a:gd name="adj" fmla="val 18000"/>
            </a:avLst>
          </a:prstGeom>
          <a:solidFill>
            <a:srgbClr val="E63946"/>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11879" y="5440680"/>
            <a:ext cx="2606040" cy="713232"/>
          </a:xfrm>
          <a:prstGeom prst="rect">
            <a:avLst/>
          </a:prstGeom>
          <a:noFill/>
        </p:spPr>
        <p:txBody>
          <a:bodyPr wrap="square" anchor="ctr" lIns="50800" rIns="50800" tIns="25400" bIns="25400">
            <a:spAutoFit/>
          </a:bodyPr>
          <a:lstStyle/>
          <a:p>
            <a:pPr algn="ctr"/>
            <a:r>
              <a:rPr sz="1250" b="1" i="0">
                <a:solidFill>
                  <a:srgbClr val="FFFFFF"/>
                </a:solidFill>
                <a:latin typeface="Montserrat"/>
              </a:rPr>
              <a:t>Élections &amp; vote</a:t>
            </a:r>
          </a:p>
        </p:txBody>
      </p:sp>
      <p:sp>
        <p:nvSpPr>
          <p:cNvPr id="26" name="Rounded Rectangle 25"/>
          <p:cNvSpPr/>
          <p:nvPr/>
        </p:nvSpPr>
        <p:spPr>
          <a:xfrm>
            <a:off x="6400800" y="5440680"/>
            <a:ext cx="2606040" cy="713232"/>
          </a:xfrm>
          <a:prstGeom prst="roundRect">
            <a:avLst>
              <a:gd name="adj" fmla="val 18000"/>
            </a:avLst>
          </a:prstGeom>
          <a:solidFill>
            <a:srgbClr val="FFFFFF"/>
          </a:solidFill>
          <a:ln w="1778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5440680"/>
            <a:ext cx="2606040" cy="713232"/>
          </a:xfrm>
          <a:prstGeom prst="rect">
            <a:avLst/>
          </a:prstGeom>
          <a:noFill/>
        </p:spPr>
        <p:txBody>
          <a:bodyPr wrap="square" anchor="ctr" lIns="50800" rIns="50800" tIns="25400" bIns="25400">
            <a:spAutoFit/>
          </a:bodyPr>
          <a:lstStyle/>
          <a:p>
            <a:pPr algn="ctr"/>
            <a:r>
              <a:rPr sz="1250" b="1" i="0">
                <a:solidFill>
                  <a:srgbClr val="1B9AAA"/>
                </a:solidFill>
                <a:latin typeface="Montserrat"/>
              </a:rPr>
              <a:t>Notifications</a:t>
            </a:r>
          </a:p>
        </p:txBody>
      </p:sp>
      <p:sp>
        <p:nvSpPr>
          <p:cNvPr id="28" name="Rounded Rectangle 27"/>
          <p:cNvSpPr/>
          <p:nvPr/>
        </p:nvSpPr>
        <p:spPr>
          <a:xfrm>
            <a:off x="9189719" y="5440680"/>
            <a:ext cx="2606040" cy="713232"/>
          </a:xfrm>
          <a:prstGeom prst="roundRect">
            <a:avLst>
              <a:gd name="adj" fmla="val 18000"/>
            </a:avLst>
          </a:prstGeom>
          <a:solidFill>
            <a:srgbClr val="FFFFFF"/>
          </a:solidFill>
          <a:ln w="17780">
            <a:solidFill>
              <a:srgbClr val="0A3D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89719" y="5440680"/>
            <a:ext cx="2606040" cy="713232"/>
          </a:xfrm>
          <a:prstGeom prst="rect">
            <a:avLst/>
          </a:prstGeom>
          <a:noFill/>
        </p:spPr>
        <p:txBody>
          <a:bodyPr wrap="square" anchor="ctr" lIns="50800" rIns="50800" tIns="25400" bIns="25400">
            <a:spAutoFit/>
          </a:bodyPr>
          <a:lstStyle/>
          <a:p>
            <a:pPr algn="ctr"/>
            <a:r>
              <a:rPr sz="1250" b="1" i="0">
                <a:solidFill>
                  <a:srgbClr val="0A3D62"/>
                </a:solidFill>
                <a:latin typeface="Montserrat"/>
              </a:rPr>
              <a:t>Spécialités</a:t>
            </a:r>
          </a:p>
        </p:txBody>
      </p:sp>
      <p:sp>
        <p:nvSpPr>
          <p:cNvPr id="30" name="TextBox 29"/>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1" name="TextBox 30"/>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3 · LA SOLUTION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Trois acteurs, des exigences claires</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3520440" cy="2606040"/>
          </a:xfrm>
          <a:prstGeom prst="roundRect">
            <a:avLst>
              <a:gd name="adj" fmla="val 6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74519"/>
            <a:ext cx="3520440" cy="54864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19"/>
            <a:ext cx="3520440" cy="548640"/>
          </a:xfrm>
          <a:prstGeom prst="rect">
            <a:avLst/>
          </a:prstGeom>
          <a:noFill/>
        </p:spPr>
        <p:txBody>
          <a:bodyPr wrap="square" anchor="ctr" lIns="50800" rIns="50800" tIns="25400" bIns="25400">
            <a:spAutoFit/>
          </a:bodyPr>
          <a:lstStyle/>
          <a:p>
            <a:pPr algn="ctr"/>
            <a:r>
              <a:rPr sz="1500" b="1" i="0">
                <a:solidFill>
                  <a:srgbClr val="FFFFFF"/>
                </a:solidFill>
                <a:latin typeface="Montserrat"/>
              </a:rPr>
              <a:t>Visiteur public</a:t>
            </a:r>
          </a:p>
        </p:txBody>
      </p:sp>
      <p:sp>
        <p:nvSpPr>
          <p:cNvPr id="9" name="TextBox 8"/>
          <p:cNvSpPr txBox="1"/>
          <p:nvPr/>
        </p:nvSpPr>
        <p:spPr>
          <a:xfrm>
            <a:off x="914400" y="2606040"/>
            <a:ext cx="3017520" cy="1737360"/>
          </a:xfrm>
          <a:prstGeom prst="rect">
            <a:avLst/>
          </a:prstGeom>
          <a:noFill/>
        </p:spPr>
        <p:txBody>
          <a:bodyPr wrap="square" anchor="t" lIns="50800" rIns="50800" tIns="25400" bIns="25400">
            <a:spAutoFit/>
          </a:bodyPr>
          <a:lstStyle/>
          <a:p>
            <a:pPr algn="l"/>
            <a:r>
              <a:rPr sz="1250" b="0" i="0">
                <a:solidFill>
                  <a:srgbClr val="2D3748"/>
                </a:solidFill>
                <a:latin typeface="Inter"/>
              </a:rPr>
              <a:t>•  Consulter annonces</a:t>
            </a:r>
          </a:p>
          <a:p>
            <a:pPr algn="l"/>
            <a:r>
              <a:rPr sz="1250" b="0" i="0">
                <a:solidFill>
                  <a:srgbClr val="2D3748"/>
                </a:solidFill>
                <a:latin typeface="Inter"/>
              </a:rPr>
              <a:t>•  Rechercher / vérifier</a:t>
            </a:r>
          </a:p>
          <a:p>
            <a:pPr algn="l"/>
            <a:r>
              <a:rPr sz="1250" b="0" i="0">
                <a:solidFill>
                  <a:srgbClr val="2D3748"/>
                </a:solidFill>
                <a:latin typeface="Inter"/>
              </a:rPr>
              <a:t>•  un médecin</a:t>
            </a:r>
          </a:p>
          <a:p>
            <a:pPr algn="l"/>
            <a:r>
              <a:rPr sz="1250" b="0" i="0">
                <a:solidFill>
                  <a:srgbClr val="2D3748"/>
                </a:solidFill>
                <a:latin typeface="Inter"/>
              </a:rPr>
              <a:t>•  Déposer une réclamation</a:t>
            </a:r>
          </a:p>
        </p:txBody>
      </p:sp>
      <p:sp>
        <p:nvSpPr>
          <p:cNvPr id="10" name="Rounded Rectangle 9"/>
          <p:cNvSpPr/>
          <p:nvPr/>
        </p:nvSpPr>
        <p:spPr>
          <a:xfrm>
            <a:off x="4343400" y="1874519"/>
            <a:ext cx="3520440" cy="2606040"/>
          </a:xfrm>
          <a:prstGeom prst="roundRect">
            <a:avLst>
              <a:gd name="adj" fmla="val 6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1874519"/>
            <a:ext cx="3520440" cy="54864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1874519"/>
            <a:ext cx="3520440" cy="548640"/>
          </a:xfrm>
          <a:prstGeom prst="rect">
            <a:avLst/>
          </a:prstGeom>
          <a:noFill/>
        </p:spPr>
        <p:txBody>
          <a:bodyPr wrap="square" anchor="ctr" lIns="50800" rIns="50800" tIns="25400" bIns="25400">
            <a:spAutoFit/>
          </a:bodyPr>
          <a:lstStyle/>
          <a:p>
            <a:pPr algn="ctr"/>
            <a:r>
              <a:rPr sz="1500" b="1" i="0">
                <a:solidFill>
                  <a:srgbClr val="FFFFFF"/>
                </a:solidFill>
                <a:latin typeface="Montserrat"/>
              </a:rPr>
              <a:t>Médecin</a:t>
            </a:r>
          </a:p>
        </p:txBody>
      </p:sp>
      <p:sp>
        <p:nvSpPr>
          <p:cNvPr id="13" name="TextBox 12"/>
          <p:cNvSpPr txBox="1"/>
          <p:nvPr/>
        </p:nvSpPr>
        <p:spPr>
          <a:xfrm>
            <a:off x="4617720" y="2606040"/>
            <a:ext cx="3017520" cy="1737360"/>
          </a:xfrm>
          <a:prstGeom prst="rect">
            <a:avLst/>
          </a:prstGeom>
          <a:noFill/>
        </p:spPr>
        <p:txBody>
          <a:bodyPr wrap="square" anchor="t" lIns="50800" rIns="50800" tIns="25400" bIns="25400">
            <a:spAutoFit/>
          </a:bodyPr>
          <a:lstStyle/>
          <a:p>
            <a:pPr algn="l"/>
            <a:r>
              <a:rPr sz="1250" b="0" i="0">
                <a:solidFill>
                  <a:srgbClr val="2D3748"/>
                </a:solidFill>
                <a:latin typeface="Inter"/>
              </a:rPr>
              <a:t>•  Adhérer en ligne</a:t>
            </a:r>
          </a:p>
          <a:p>
            <a:pPr algn="l"/>
            <a:r>
              <a:rPr sz="1250" b="0" i="0">
                <a:solidFill>
                  <a:srgbClr val="2D3748"/>
                </a:solidFill>
                <a:latin typeface="Inter"/>
              </a:rPr>
              <a:t>•  Suivre ses dossiers</a:t>
            </a:r>
          </a:p>
          <a:p>
            <a:pPr algn="l"/>
            <a:r>
              <a:rPr sz="1250" b="0" i="0">
                <a:solidFill>
                  <a:srgbClr val="2D3748"/>
                </a:solidFill>
                <a:latin typeface="Inter"/>
              </a:rPr>
              <a:t>•  Répondre aux sondages</a:t>
            </a:r>
          </a:p>
          <a:p>
            <a:pPr algn="l"/>
            <a:r>
              <a:rPr sz="1250" b="0" i="0">
                <a:solidFill>
                  <a:srgbClr val="2D3748"/>
                </a:solidFill>
                <a:latin typeface="Inter"/>
              </a:rPr>
              <a:t>•  Voter aux élections</a:t>
            </a:r>
          </a:p>
        </p:txBody>
      </p:sp>
      <p:sp>
        <p:nvSpPr>
          <p:cNvPr id="14" name="Rounded Rectangle 13"/>
          <p:cNvSpPr/>
          <p:nvPr/>
        </p:nvSpPr>
        <p:spPr>
          <a:xfrm>
            <a:off x="8046719" y="1874519"/>
            <a:ext cx="3520440" cy="2606040"/>
          </a:xfrm>
          <a:prstGeom prst="roundRect">
            <a:avLst>
              <a:gd name="adj" fmla="val 6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874519"/>
            <a:ext cx="3520440" cy="548640"/>
          </a:xfrm>
          <a:prstGeom prst="roundRect">
            <a:avLst>
              <a:gd name="adj" fmla="val 50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9" y="1874519"/>
            <a:ext cx="3520440" cy="548640"/>
          </a:xfrm>
          <a:prstGeom prst="rect">
            <a:avLst/>
          </a:prstGeom>
          <a:noFill/>
        </p:spPr>
        <p:txBody>
          <a:bodyPr wrap="square" anchor="ctr" lIns="50800" rIns="50800" tIns="25400" bIns="25400">
            <a:spAutoFit/>
          </a:bodyPr>
          <a:lstStyle/>
          <a:p>
            <a:pPr algn="ctr"/>
            <a:r>
              <a:rPr sz="1500" b="1" i="0">
                <a:solidFill>
                  <a:srgbClr val="FFFFFF"/>
                </a:solidFill>
                <a:latin typeface="Montserrat"/>
              </a:rPr>
              <a:t>Administrateur</a:t>
            </a:r>
          </a:p>
        </p:txBody>
      </p:sp>
      <p:sp>
        <p:nvSpPr>
          <p:cNvPr id="17" name="TextBox 16"/>
          <p:cNvSpPr txBox="1"/>
          <p:nvPr/>
        </p:nvSpPr>
        <p:spPr>
          <a:xfrm>
            <a:off x="8321040" y="2606040"/>
            <a:ext cx="3017520" cy="1737360"/>
          </a:xfrm>
          <a:prstGeom prst="rect">
            <a:avLst/>
          </a:prstGeom>
          <a:noFill/>
        </p:spPr>
        <p:txBody>
          <a:bodyPr wrap="square" anchor="t" lIns="50800" rIns="50800" tIns="25400" bIns="25400">
            <a:spAutoFit/>
          </a:bodyPr>
          <a:lstStyle/>
          <a:p>
            <a:pPr algn="l"/>
            <a:r>
              <a:rPr sz="1250" b="0" i="0">
                <a:solidFill>
                  <a:srgbClr val="2D3748"/>
                </a:solidFill>
                <a:latin typeface="Inter"/>
              </a:rPr>
              <a:t>•  Valider les adhésions</a:t>
            </a:r>
          </a:p>
          <a:p>
            <a:pPr algn="l"/>
            <a:r>
              <a:rPr sz="1250" b="0" i="0">
                <a:solidFill>
                  <a:srgbClr val="2D3748"/>
                </a:solidFill>
                <a:latin typeface="Inter"/>
              </a:rPr>
              <a:t>•  Gérer le registre</a:t>
            </a:r>
          </a:p>
          <a:p>
            <a:pPr algn="l"/>
            <a:r>
              <a:rPr sz="1250" b="0" i="0">
                <a:solidFill>
                  <a:srgbClr val="2D3748"/>
                </a:solidFill>
                <a:latin typeface="Inter"/>
              </a:rPr>
              <a:t>•  Traiter réclamations</a:t>
            </a:r>
          </a:p>
          <a:p>
            <a:pPr algn="l"/>
            <a:r>
              <a:rPr sz="1250" b="0" i="0">
                <a:solidFill>
                  <a:srgbClr val="2D3748"/>
                </a:solidFill>
                <a:latin typeface="Inter"/>
              </a:rPr>
              <a:t>•  Organiser élections</a:t>
            </a:r>
          </a:p>
        </p:txBody>
      </p:sp>
      <p:sp>
        <p:nvSpPr>
          <p:cNvPr id="18" name="Rounded Rectangle 17"/>
          <p:cNvSpPr/>
          <p:nvPr/>
        </p:nvSpPr>
        <p:spPr>
          <a:xfrm>
            <a:off x="640080" y="4754880"/>
            <a:ext cx="10927080" cy="1325880"/>
          </a:xfrm>
          <a:prstGeom prst="roundRect">
            <a:avLst>
              <a:gd name="adj" fmla="val 6000"/>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864608"/>
            <a:ext cx="10058400" cy="365760"/>
          </a:xfrm>
          <a:prstGeom prst="rect">
            <a:avLst/>
          </a:prstGeom>
          <a:noFill/>
        </p:spPr>
        <p:txBody>
          <a:bodyPr wrap="square" anchor="t" lIns="50800" rIns="50800" tIns="25400" bIns="25400">
            <a:spAutoFit/>
          </a:bodyPr>
          <a:lstStyle/>
          <a:p>
            <a:pPr algn="l"/>
            <a:r>
              <a:rPr sz="1300" b="1" i="0">
                <a:solidFill>
                  <a:srgbClr val="2EC4B6"/>
                </a:solidFill>
                <a:latin typeface="Montserrat"/>
              </a:rPr>
              <a:t>Exigences non fonctionnelles</a:t>
            </a:r>
          </a:p>
        </p:txBody>
      </p:sp>
      <p:sp>
        <p:nvSpPr>
          <p:cNvPr id="20" name="Rounded Rectangle 19"/>
          <p:cNvSpPr/>
          <p:nvPr/>
        </p:nvSpPr>
        <p:spPr>
          <a:xfrm>
            <a:off x="868680" y="5349240"/>
            <a:ext cx="1554480" cy="548640"/>
          </a:xfrm>
          <a:prstGeom prst="roundRect">
            <a:avLst>
              <a:gd name="adj" fmla="val 25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349240"/>
            <a:ext cx="1554480" cy="548640"/>
          </a:xfrm>
          <a:prstGeom prst="rect">
            <a:avLst/>
          </a:prstGeom>
          <a:noFill/>
        </p:spPr>
        <p:txBody>
          <a:bodyPr wrap="square" anchor="ctr" lIns="50800" rIns="50800" tIns="25400" bIns="25400">
            <a:spAutoFit/>
          </a:bodyPr>
          <a:lstStyle/>
          <a:p>
            <a:pPr algn="ctr"/>
            <a:r>
              <a:rPr sz="1150" b="1" i="0">
                <a:solidFill>
                  <a:srgbClr val="FFFFFF"/>
                </a:solidFill>
                <a:latin typeface="Inter"/>
              </a:rPr>
              <a:t>Sécurité</a:t>
            </a:r>
          </a:p>
        </p:txBody>
      </p:sp>
      <p:sp>
        <p:nvSpPr>
          <p:cNvPr id="22" name="Rounded Rectangle 21"/>
          <p:cNvSpPr/>
          <p:nvPr/>
        </p:nvSpPr>
        <p:spPr>
          <a:xfrm>
            <a:off x="2532887" y="5349240"/>
            <a:ext cx="1554480" cy="548640"/>
          </a:xfrm>
          <a:prstGeom prst="roundRect">
            <a:avLst>
              <a:gd name="adj" fmla="val 25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32887" y="5349240"/>
            <a:ext cx="1554480" cy="548640"/>
          </a:xfrm>
          <a:prstGeom prst="rect">
            <a:avLst/>
          </a:prstGeom>
          <a:noFill/>
        </p:spPr>
        <p:txBody>
          <a:bodyPr wrap="square" anchor="ctr" lIns="50800" rIns="50800" tIns="25400" bIns="25400">
            <a:spAutoFit/>
          </a:bodyPr>
          <a:lstStyle/>
          <a:p>
            <a:pPr algn="ctr"/>
            <a:r>
              <a:rPr sz="1150" b="1" i="0">
                <a:solidFill>
                  <a:srgbClr val="FFFFFF"/>
                </a:solidFill>
                <a:latin typeface="Inter"/>
              </a:rPr>
              <a:t>Traçabilité</a:t>
            </a:r>
          </a:p>
        </p:txBody>
      </p:sp>
      <p:sp>
        <p:nvSpPr>
          <p:cNvPr id="24" name="Rounded Rectangle 23"/>
          <p:cNvSpPr/>
          <p:nvPr/>
        </p:nvSpPr>
        <p:spPr>
          <a:xfrm>
            <a:off x="4197096" y="5349240"/>
            <a:ext cx="1417320" cy="548640"/>
          </a:xfrm>
          <a:prstGeom prst="roundRect">
            <a:avLst>
              <a:gd name="adj" fmla="val 25000"/>
            </a:avLst>
          </a:prstGeom>
          <a:solidFill>
            <a:srgbClr val="0E4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97096" y="5349240"/>
            <a:ext cx="1417320" cy="548640"/>
          </a:xfrm>
          <a:prstGeom prst="rect">
            <a:avLst/>
          </a:prstGeom>
          <a:noFill/>
        </p:spPr>
        <p:txBody>
          <a:bodyPr wrap="square" anchor="ctr" lIns="50800" rIns="50800" tIns="25400" bIns="25400">
            <a:spAutoFit/>
          </a:bodyPr>
          <a:lstStyle/>
          <a:p>
            <a:pPr algn="ctr"/>
            <a:r>
              <a:rPr sz="1150" b="0" i="0">
                <a:solidFill>
                  <a:srgbClr val="FFFFFF"/>
                </a:solidFill>
                <a:latin typeface="Inter"/>
              </a:rPr>
              <a:t>Performance</a:t>
            </a:r>
          </a:p>
        </p:txBody>
      </p:sp>
      <p:sp>
        <p:nvSpPr>
          <p:cNvPr id="26" name="Rounded Rectangle 25"/>
          <p:cNvSpPr/>
          <p:nvPr/>
        </p:nvSpPr>
        <p:spPr>
          <a:xfrm>
            <a:off x="5724144" y="5349240"/>
            <a:ext cx="1417320" cy="548640"/>
          </a:xfrm>
          <a:prstGeom prst="roundRect">
            <a:avLst>
              <a:gd name="adj" fmla="val 25000"/>
            </a:avLst>
          </a:prstGeom>
          <a:solidFill>
            <a:srgbClr val="0E4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24144" y="5349240"/>
            <a:ext cx="1417320" cy="548640"/>
          </a:xfrm>
          <a:prstGeom prst="rect">
            <a:avLst/>
          </a:prstGeom>
          <a:noFill/>
        </p:spPr>
        <p:txBody>
          <a:bodyPr wrap="square" anchor="ctr" lIns="50800" rIns="50800" tIns="25400" bIns="25400">
            <a:spAutoFit/>
          </a:bodyPr>
          <a:lstStyle/>
          <a:p>
            <a:pPr algn="ctr"/>
            <a:r>
              <a:rPr sz="1150" b="0" i="0">
                <a:solidFill>
                  <a:srgbClr val="FFFFFF"/>
                </a:solidFill>
                <a:latin typeface="Inter"/>
              </a:rPr>
              <a:t>Disponibilité</a:t>
            </a:r>
          </a:p>
        </p:txBody>
      </p:sp>
      <p:sp>
        <p:nvSpPr>
          <p:cNvPr id="28" name="Rounded Rectangle 27"/>
          <p:cNvSpPr/>
          <p:nvPr/>
        </p:nvSpPr>
        <p:spPr>
          <a:xfrm>
            <a:off x="7251192" y="5349240"/>
            <a:ext cx="1417320" cy="548640"/>
          </a:xfrm>
          <a:prstGeom prst="roundRect">
            <a:avLst>
              <a:gd name="adj" fmla="val 25000"/>
            </a:avLst>
          </a:prstGeom>
          <a:solidFill>
            <a:srgbClr val="0E4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51192" y="5349240"/>
            <a:ext cx="1417320" cy="548640"/>
          </a:xfrm>
          <a:prstGeom prst="rect">
            <a:avLst/>
          </a:prstGeom>
          <a:noFill/>
        </p:spPr>
        <p:txBody>
          <a:bodyPr wrap="square" anchor="ctr" lIns="50800" rIns="50800" tIns="25400" bIns="25400">
            <a:spAutoFit/>
          </a:bodyPr>
          <a:lstStyle/>
          <a:p>
            <a:pPr algn="ctr"/>
            <a:r>
              <a:rPr sz="1150" b="0" i="0">
                <a:solidFill>
                  <a:srgbClr val="FFFFFF"/>
                </a:solidFill>
                <a:latin typeface="Inter"/>
              </a:rPr>
              <a:t>Ergonomie</a:t>
            </a:r>
          </a:p>
        </p:txBody>
      </p:sp>
      <p:sp>
        <p:nvSpPr>
          <p:cNvPr id="30" name="Rounded Rectangle 29"/>
          <p:cNvSpPr/>
          <p:nvPr/>
        </p:nvSpPr>
        <p:spPr>
          <a:xfrm>
            <a:off x="8778240" y="5349240"/>
            <a:ext cx="1417320" cy="548640"/>
          </a:xfrm>
          <a:prstGeom prst="roundRect">
            <a:avLst>
              <a:gd name="adj" fmla="val 25000"/>
            </a:avLst>
          </a:prstGeom>
          <a:solidFill>
            <a:srgbClr val="0E4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0" y="5349240"/>
            <a:ext cx="1417320" cy="548640"/>
          </a:xfrm>
          <a:prstGeom prst="rect">
            <a:avLst/>
          </a:prstGeom>
          <a:noFill/>
        </p:spPr>
        <p:txBody>
          <a:bodyPr wrap="square" anchor="ctr" lIns="50800" rIns="50800" tIns="25400" bIns="25400">
            <a:spAutoFit/>
          </a:bodyPr>
          <a:lstStyle/>
          <a:p>
            <a:pPr algn="ctr"/>
            <a:r>
              <a:rPr sz="1150" b="0" i="0">
                <a:solidFill>
                  <a:srgbClr val="FFFFFF"/>
                </a:solidFill>
                <a:latin typeface="Inter"/>
              </a:rPr>
              <a:t>Compatibilité</a:t>
            </a:r>
          </a:p>
        </p:txBody>
      </p:sp>
      <p:sp>
        <p:nvSpPr>
          <p:cNvPr id="32" name="Rounded Rectangle 31"/>
          <p:cNvSpPr/>
          <p:nvPr/>
        </p:nvSpPr>
        <p:spPr>
          <a:xfrm>
            <a:off x="10305288" y="5349240"/>
            <a:ext cx="1417320" cy="548640"/>
          </a:xfrm>
          <a:prstGeom prst="roundRect">
            <a:avLst>
              <a:gd name="adj" fmla="val 25000"/>
            </a:avLst>
          </a:prstGeom>
          <a:solidFill>
            <a:srgbClr val="0E4F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05288" y="5349240"/>
            <a:ext cx="1417320" cy="548640"/>
          </a:xfrm>
          <a:prstGeom prst="rect">
            <a:avLst/>
          </a:prstGeom>
          <a:noFill/>
        </p:spPr>
        <p:txBody>
          <a:bodyPr wrap="square" anchor="ctr" lIns="50800" rIns="50800" tIns="25400" bIns="25400">
            <a:spAutoFit/>
          </a:bodyPr>
          <a:lstStyle/>
          <a:p>
            <a:pPr algn="ctr"/>
            <a:r>
              <a:rPr sz="1150" b="0" i="0">
                <a:solidFill>
                  <a:srgbClr val="FFFFFF"/>
                </a:solidFill>
                <a:latin typeface="Inter"/>
              </a:rPr>
              <a:t>Évolutivité</a:t>
            </a:r>
          </a:p>
        </p:txBody>
      </p:sp>
      <p:sp>
        <p:nvSpPr>
          <p:cNvPr id="34" name="TextBox 33"/>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5" name="TextBox 34"/>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4 · LA CONSTRUCTION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UML pour concevoir, Scrum pour livrer</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3657600" cy="2743200"/>
          </a:xfrm>
          <a:prstGeom prst="roundRect">
            <a:avLst>
              <a:gd name="adj" fmla="val 7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74519"/>
            <a:ext cx="3657600" cy="1097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30552"/>
            <a:ext cx="3200400" cy="548640"/>
          </a:xfrm>
          <a:prstGeom prst="rect">
            <a:avLst/>
          </a:prstGeom>
          <a:noFill/>
        </p:spPr>
        <p:txBody>
          <a:bodyPr wrap="square" anchor="t" lIns="50800" rIns="50800" tIns="25400" bIns="25400">
            <a:spAutoFit/>
          </a:bodyPr>
          <a:lstStyle/>
          <a:p>
            <a:pPr algn="l"/>
            <a:r>
              <a:rPr sz="1600" b="1" i="0">
                <a:solidFill>
                  <a:srgbClr val="0A3D62"/>
                </a:solidFill>
                <a:latin typeface="Montserrat"/>
              </a:rPr>
              <a:t>Modélisation UML</a:t>
            </a:r>
          </a:p>
        </p:txBody>
      </p:sp>
      <p:sp>
        <p:nvSpPr>
          <p:cNvPr id="9" name="TextBox 8"/>
          <p:cNvSpPr txBox="1"/>
          <p:nvPr/>
        </p:nvSpPr>
        <p:spPr>
          <a:xfrm>
            <a:off x="868680" y="2743200"/>
            <a:ext cx="3200400" cy="1737360"/>
          </a:xfrm>
          <a:prstGeom prst="rect">
            <a:avLst/>
          </a:prstGeom>
          <a:noFill/>
        </p:spPr>
        <p:txBody>
          <a:bodyPr wrap="square" anchor="t" lIns="50800" rIns="50800" tIns="25400" bIns="25400">
            <a:spAutoFit/>
          </a:bodyPr>
          <a:lstStyle/>
          <a:p>
            <a:pPr algn="l"/>
            <a:r>
              <a:rPr sz="1250" b="0" i="0">
                <a:solidFill>
                  <a:srgbClr val="2D3748"/>
                </a:solidFill>
                <a:latin typeface="Inter"/>
              </a:rPr>
              <a:t>Cas d'utilisation</a:t>
            </a:r>
          </a:p>
          <a:p>
            <a:pPr algn="l"/>
            <a:r>
              <a:rPr sz="1250" b="0" i="0">
                <a:solidFill>
                  <a:srgbClr val="2D3748"/>
                </a:solidFill>
                <a:latin typeface="Inter"/>
              </a:rPr>
              <a:t>→ fonctions par acteur</a:t>
            </a:r>
          </a:p>
          <a:p>
            <a:pPr algn="l"/>
            <a:r>
              <a:rPr sz="1250" b="0" i="0">
                <a:solidFill>
                  <a:srgbClr val="2D3748"/>
                </a:solidFill>
                <a:latin typeface="Inter"/>
              </a:rPr>
              <a:t/>
            </a:r>
          </a:p>
          <a:p>
            <a:pPr algn="l"/>
            <a:r>
              <a:rPr sz="1250" b="0" i="0">
                <a:solidFill>
                  <a:srgbClr val="2D3748"/>
                </a:solidFill>
                <a:latin typeface="Inter"/>
              </a:rPr>
              <a:t>Séquence</a:t>
            </a:r>
          </a:p>
          <a:p>
            <a:pPr algn="l"/>
            <a:r>
              <a:rPr sz="1250" b="0" i="0">
                <a:solidFill>
                  <a:srgbClr val="2D3748"/>
                </a:solidFill>
                <a:latin typeface="Inter"/>
              </a:rPr>
              <a:t>→ scénarios clés</a:t>
            </a:r>
          </a:p>
          <a:p>
            <a:pPr algn="l"/>
            <a:r>
              <a:rPr sz="1250" b="0" i="0">
                <a:solidFill>
                  <a:srgbClr val="2D3748"/>
                </a:solidFill>
                <a:latin typeface="Inter"/>
              </a:rPr>
              <a:t/>
            </a:r>
          </a:p>
          <a:p>
            <a:pPr algn="l"/>
            <a:r>
              <a:rPr sz="1250" b="0" i="0">
                <a:solidFill>
                  <a:srgbClr val="2D3748"/>
                </a:solidFill>
                <a:latin typeface="Inter"/>
              </a:rPr>
              <a:t>Classes</a:t>
            </a:r>
          </a:p>
          <a:p>
            <a:pPr algn="l"/>
            <a:r>
              <a:rPr sz="1250" b="0" i="0">
                <a:solidFill>
                  <a:srgbClr val="2D3748"/>
                </a:solidFill>
                <a:latin typeface="Inter"/>
              </a:rPr>
              <a:t>→ modèle de données</a:t>
            </a:r>
          </a:p>
        </p:txBody>
      </p:sp>
      <p:sp>
        <p:nvSpPr>
          <p:cNvPr id="10" name="TextBox 9"/>
          <p:cNvSpPr txBox="1"/>
          <p:nvPr/>
        </p:nvSpPr>
        <p:spPr>
          <a:xfrm>
            <a:off x="4572000" y="1874519"/>
            <a:ext cx="6949440" cy="411480"/>
          </a:xfrm>
          <a:prstGeom prst="rect">
            <a:avLst/>
          </a:prstGeom>
          <a:noFill/>
        </p:spPr>
        <p:txBody>
          <a:bodyPr wrap="square" anchor="t" lIns="50800" rIns="50800" tIns="25400" bIns="25400">
            <a:spAutoFit/>
          </a:bodyPr>
          <a:lstStyle/>
          <a:p>
            <a:pPr algn="l"/>
            <a:r>
              <a:rPr sz="1400" b="1" i="0">
                <a:solidFill>
                  <a:srgbClr val="0A3D62"/>
                </a:solidFill>
                <a:latin typeface="Montserrat"/>
              </a:rPr>
              <a:t>Agile Scrum · 8 sprints × 2 semaines · suivi Jira</a:t>
            </a:r>
          </a:p>
        </p:txBody>
      </p:sp>
      <p:sp>
        <p:nvSpPr>
          <p:cNvPr id="11" name="Rounded Rectangle 10"/>
          <p:cNvSpPr/>
          <p:nvPr/>
        </p:nvSpPr>
        <p:spPr>
          <a:xfrm>
            <a:off x="4572000" y="2377440"/>
            <a:ext cx="868680" cy="4114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37744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S0</a:t>
            </a:r>
          </a:p>
        </p:txBody>
      </p:sp>
      <p:sp>
        <p:nvSpPr>
          <p:cNvPr id="13" name="Rounded Rectangle 12"/>
          <p:cNvSpPr/>
          <p:nvPr/>
        </p:nvSpPr>
        <p:spPr>
          <a:xfrm>
            <a:off x="5532120" y="2423160"/>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2377440"/>
            <a:ext cx="5669280" cy="411480"/>
          </a:xfrm>
          <a:prstGeom prst="rect">
            <a:avLst/>
          </a:prstGeom>
          <a:noFill/>
        </p:spPr>
        <p:txBody>
          <a:bodyPr wrap="square" anchor="ctr" lIns="50800" rIns="50800" tIns="25400" bIns="25400">
            <a:spAutoFit/>
          </a:bodyPr>
          <a:lstStyle/>
          <a:p>
            <a:pPr algn="l"/>
            <a:r>
              <a:rPr sz="1200" b="0" i="0">
                <a:solidFill>
                  <a:srgbClr val="2D3748"/>
                </a:solidFill>
                <a:latin typeface="Inter"/>
              </a:rPr>
              <a:t>Analyse / UML</a:t>
            </a:r>
          </a:p>
        </p:txBody>
      </p:sp>
      <p:sp>
        <p:nvSpPr>
          <p:cNvPr id="15" name="Rounded Rectangle 14"/>
          <p:cNvSpPr/>
          <p:nvPr/>
        </p:nvSpPr>
        <p:spPr>
          <a:xfrm>
            <a:off x="4572000" y="2880360"/>
            <a:ext cx="868680" cy="4114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88036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S1-2</a:t>
            </a:r>
          </a:p>
        </p:txBody>
      </p:sp>
      <p:sp>
        <p:nvSpPr>
          <p:cNvPr id="17" name="Rounded Rectangle 16"/>
          <p:cNvSpPr/>
          <p:nvPr/>
        </p:nvSpPr>
        <p:spPr>
          <a:xfrm>
            <a:off x="5532120" y="2926080"/>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2880360"/>
            <a:ext cx="5669280" cy="411480"/>
          </a:xfrm>
          <a:prstGeom prst="rect">
            <a:avLst/>
          </a:prstGeom>
          <a:noFill/>
        </p:spPr>
        <p:txBody>
          <a:bodyPr wrap="square" anchor="ctr" lIns="50800" rIns="50800" tIns="25400" bIns="25400">
            <a:spAutoFit/>
          </a:bodyPr>
          <a:lstStyle/>
          <a:p>
            <a:pPr algn="l"/>
            <a:r>
              <a:rPr sz="1200" b="0" i="0">
                <a:solidFill>
                  <a:srgbClr val="2D3748"/>
                </a:solidFill>
                <a:latin typeface="Inter"/>
              </a:rPr>
              <a:t>Auth · Adhésion · Registre</a:t>
            </a:r>
          </a:p>
        </p:txBody>
      </p:sp>
      <p:sp>
        <p:nvSpPr>
          <p:cNvPr id="19" name="Rounded Rectangle 18"/>
          <p:cNvSpPr/>
          <p:nvPr/>
        </p:nvSpPr>
        <p:spPr>
          <a:xfrm>
            <a:off x="4572000" y="3383280"/>
            <a:ext cx="868680" cy="4114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338328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S3</a:t>
            </a:r>
          </a:p>
        </p:txBody>
      </p:sp>
      <p:sp>
        <p:nvSpPr>
          <p:cNvPr id="21" name="Rounded Rectangle 20"/>
          <p:cNvSpPr/>
          <p:nvPr/>
        </p:nvSpPr>
        <p:spPr>
          <a:xfrm>
            <a:off x="5532120" y="3429000"/>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3383280"/>
            <a:ext cx="5669280" cy="411480"/>
          </a:xfrm>
          <a:prstGeom prst="rect">
            <a:avLst/>
          </a:prstGeom>
          <a:noFill/>
        </p:spPr>
        <p:txBody>
          <a:bodyPr wrap="square" anchor="ctr" lIns="50800" rIns="50800" tIns="25400" bIns="25400">
            <a:spAutoFit/>
          </a:bodyPr>
          <a:lstStyle/>
          <a:p>
            <a:pPr algn="l"/>
            <a:r>
              <a:rPr sz="1200" b="0" i="0">
                <a:solidFill>
                  <a:srgbClr val="2D3748"/>
                </a:solidFill>
                <a:latin typeface="Inter"/>
              </a:rPr>
              <a:t>Portail · Annuaire</a:t>
            </a:r>
          </a:p>
        </p:txBody>
      </p:sp>
      <p:sp>
        <p:nvSpPr>
          <p:cNvPr id="23" name="Rounded Rectangle 22"/>
          <p:cNvSpPr/>
          <p:nvPr/>
        </p:nvSpPr>
        <p:spPr>
          <a:xfrm>
            <a:off x="4572000" y="3886200"/>
            <a:ext cx="868680" cy="4114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88620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S4</a:t>
            </a:r>
          </a:p>
        </p:txBody>
      </p:sp>
      <p:sp>
        <p:nvSpPr>
          <p:cNvPr id="25" name="Rounded Rectangle 24"/>
          <p:cNvSpPr/>
          <p:nvPr/>
        </p:nvSpPr>
        <p:spPr>
          <a:xfrm>
            <a:off x="5532120" y="3931920"/>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0" y="3886200"/>
            <a:ext cx="5669280" cy="411480"/>
          </a:xfrm>
          <a:prstGeom prst="rect">
            <a:avLst/>
          </a:prstGeom>
          <a:noFill/>
        </p:spPr>
        <p:txBody>
          <a:bodyPr wrap="square" anchor="ctr" lIns="50800" rIns="50800" tIns="25400" bIns="25400">
            <a:spAutoFit/>
          </a:bodyPr>
          <a:lstStyle/>
          <a:p>
            <a:pPr algn="l"/>
            <a:r>
              <a:rPr sz="1200" b="0" i="0">
                <a:solidFill>
                  <a:srgbClr val="2D3748"/>
                </a:solidFill>
                <a:latin typeface="Inter"/>
              </a:rPr>
              <a:t>Réclam. · Notifs</a:t>
            </a:r>
          </a:p>
        </p:txBody>
      </p:sp>
      <p:sp>
        <p:nvSpPr>
          <p:cNvPr id="27" name="Rounded Rectangle 26"/>
          <p:cNvSpPr/>
          <p:nvPr/>
        </p:nvSpPr>
        <p:spPr>
          <a:xfrm>
            <a:off x="4572000" y="4389120"/>
            <a:ext cx="868680" cy="4114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38912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S5</a:t>
            </a:r>
          </a:p>
        </p:txBody>
      </p:sp>
      <p:sp>
        <p:nvSpPr>
          <p:cNvPr id="29" name="Rounded Rectangle 28"/>
          <p:cNvSpPr/>
          <p:nvPr/>
        </p:nvSpPr>
        <p:spPr>
          <a:xfrm>
            <a:off x="5532120" y="4434840"/>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0" y="4389120"/>
            <a:ext cx="5669280" cy="411480"/>
          </a:xfrm>
          <a:prstGeom prst="rect">
            <a:avLst/>
          </a:prstGeom>
          <a:noFill/>
        </p:spPr>
        <p:txBody>
          <a:bodyPr wrap="square" anchor="ctr" lIns="50800" rIns="50800" tIns="25400" bIns="25400">
            <a:spAutoFit/>
          </a:bodyPr>
          <a:lstStyle/>
          <a:p>
            <a:pPr algn="l"/>
            <a:r>
              <a:rPr sz="1200" b="0" i="0">
                <a:solidFill>
                  <a:srgbClr val="2D3748"/>
                </a:solidFill>
                <a:latin typeface="Inter"/>
              </a:rPr>
              <a:t>Sondages</a:t>
            </a:r>
          </a:p>
        </p:txBody>
      </p:sp>
      <p:sp>
        <p:nvSpPr>
          <p:cNvPr id="31" name="Rounded Rectangle 30"/>
          <p:cNvSpPr/>
          <p:nvPr/>
        </p:nvSpPr>
        <p:spPr>
          <a:xfrm>
            <a:off x="4572000" y="4892040"/>
            <a:ext cx="868680" cy="411480"/>
          </a:xfrm>
          <a:prstGeom prst="roundRect">
            <a:avLst>
              <a:gd name="adj" fmla="val 5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0" y="489204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S6</a:t>
            </a:r>
          </a:p>
        </p:txBody>
      </p:sp>
      <p:sp>
        <p:nvSpPr>
          <p:cNvPr id="33" name="Rounded Rectangle 32"/>
          <p:cNvSpPr/>
          <p:nvPr/>
        </p:nvSpPr>
        <p:spPr>
          <a:xfrm>
            <a:off x="5532120" y="4937759"/>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0" y="4892040"/>
            <a:ext cx="5669280" cy="411480"/>
          </a:xfrm>
          <a:prstGeom prst="rect">
            <a:avLst/>
          </a:prstGeom>
          <a:noFill/>
        </p:spPr>
        <p:txBody>
          <a:bodyPr wrap="square" anchor="ctr" lIns="50800" rIns="50800" tIns="25400" bIns="25400">
            <a:spAutoFit/>
          </a:bodyPr>
          <a:lstStyle/>
          <a:p>
            <a:pPr algn="l"/>
            <a:r>
              <a:rPr sz="1200" b="1" i="0">
                <a:solidFill>
                  <a:srgbClr val="2D3748"/>
                </a:solidFill>
                <a:latin typeface="Inter"/>
              </a:rPr>
              <a:t>Élections / Vote</a:t>
            </a:r>
          </a:p>
        </p:txBody>
      </p:sp>
      <p:sp>
        <p:nvSpPr>
          <p:cNvPr id="35" name="Rounded Rectangle 34"/>
          <p:cNvSpPr/>
          <p:nvPr/>
        </p:nvSpPr>
        <p:spPr>
          <a:xfrm>
            <a:off x="4572000" y="5394960"/>
            <a:ext cx="868680" cy="41148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0" y="5394960"/>
            <a:ext cx="868680" cy="411480"/>
          </a:xfrm>
          <a:prstGeom prst="rect">
            <a:avLst/>
          </a:prstGeom>
          <a:noFill/>
        </p:spPr>
        <p:txBody>
          <a:bodyPr wrap="square" anchor="ctr" lIns="50800" rIns="50800" tIns="25400" bIns="25400">
            <a:spAutoFit/>
          </a:bodyPr>
          <a:lstStyle/>
          <a:p>
            <a:pPr algn="ctr"/>
            <a:r>
              <a:rPr sz="1200" b="1" i="0">
                <a:solidFill>
                  <a:srgbClr val="FFFFFF"/>
                </a:solidFill>
                <a:latin typeface="Montserrat"/>
              </a:rPr>
              <a:t>S7</a:t>
            </a:r>
          </a:p>
        </p:txBody>
      </p:sp>
      <p:sp>
        <p:nvSpPr>
          <p:cNvPr id="37" name="Rounded Rectangle 36"/>
          <p:cNvSpPr/>
          <p:nvPr/>
        </p:nvSpPr>
        <p:spPr>
          <a:xfrm>
            <a:off x="5532120" y="5440680"/>
            <a:ext cx="5852160" cy="320040"/>
          </a:xfrm>
          <a:prstGeom prst="roundRect">
            <a:avLst>
              <a:gd name="adj" fmla="val 30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0" y="5394960"/>
            <a:ext cx="5669280" cy="411480"/>
          </a:xfrm>
          <a:prstGeom prst="rect">
            <a:avLst/>
          </a:prstGeom>
          <a:noFill/>
        </p:spPr>
        <p:txBody>
          <a:bodyPr wrap="square" anchor="ctr" lIns="50800" rIns="50800" tIns="25400" bIns="25400">
            <a:spAutoFit/>
          </a:bodyPr>
          <a:lstStyle/>
          <a:p>
            <a:pPr algn="l"/>
            <a:r>
              <a:rPr sz="1200" b="0" i="0">
                <a:solidFill>
                  <a:srgbClr val="2D3748"/>
                </a:solidFill>
                <a:latin typeface="Inter"/>
              </a:rPr>
              <a:t>Intégration · Tests</a:t>
            </a:r>
          </a:p>
        </p:txBody>
      </p:sp>
      <p:sp>
        <p:nvSpPr>
          <p:cNvPr id="39" name="TextBox 38"/>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40" name="TextBox 39"/>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4 · LA CONSTRUCTION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Une architecture en couches, découplée et sécurisée</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10058400" cy="1097280"/>
          </a:xfrm>
          <a:prstGeom prst="roundRect">
            <a:avLst>
              <a:gd name="adj" fmla="val 6000"/>
            </a:avLst>
          </a:prstGeom>
          <a:solidFill>
            <a:srgbClr val="FFFFFF"/>
          </a:solidFill>
          <a:ln w="19050">
            <a:solidFill>
              <a:srgbClr val="1B9AAA"/>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965960"/>
            <a:ext cx="146304" cy="10972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30552"/>
            <a:ext cx="3657600" cy="731520"/>
          </a:xfrm>
          <a:prstGeom prst="rect">
            <a:avLst/>
          </a:prstGeom>
          <a:noFill/>
        </p:spPr>
        <p:txBody>
          <a:bodyPr wrap="square" anchor="ctr" lIns="50800" rIns="50800" tIns="25400" bIns="25400">
            <a:spAutoFit/>
          </a:bodyPr>
          <a:lstStyle/>
          <a:p>
            <a:pPr algn="l"/>
            <a:r>
              <a:rPr sz="1500" b="1" i="0">
                <a:solidFill>
                  <a:srgbClr val="1B9AAA"/>
                </a:solidFill>
                <a:latin typeface="Montserrat"/>
              </a:rPr>
              <a:t>PRÉSENTATION</a:t>
            </a:r>
          </a:p>
        </p:txBody>
      </p:sp>
      <p:sp>
        <p:nvSpPr>
          <p:cNvPr id="9" name="TextBox 8"/>
          <p:cNvSpPr txBox="1"/>
          <p:nvPr/>
        </p:nvSpPr>
        <p:spPr>
          <a:xfrm>
            <a:off x="4206240" y="2130552"/>
            <a:ext cx="6309360" cy="777240"/>
          </a:xfrm>
          <a:prstGeom prst="rect">
            <a:avLst/>
          </a:prstGeom>
          <a:noFill/>
        </p:spPr>
        <p:txBody>
          <a:bodyPr wrap="square" anchor="ctr" lIns="50800" rIns="50800" tIns="25400" bIns="25400">
            <a:spAutoFit/>
          </a:bodyPr>
          <a:lstStyle/>
          <a:p>
            <a:pPr algn="l"/>
            <a:r>
              <a:rPr sz="1250" b="0" i="0">
                <a:solidFill>
                  <a:srgbClr val="2D3748"/>
                </a:solidFill>
                <a:latin typeface="Inter"/>
              </a:rPr>
              <a:t>React.js  ·  React Router  ·  Axios  ·  Tailwind CSS</a:t>
            </a:r>
          </a:p>
        </p:txBody>
      </p:sp>
      <p:sp>
        <p:nvSpPr>
          <p:cNvPr id="10" name="Down Arrow 9"/>
          <p:cNvSpPr/>
          <p:nvPr/>
        </p:nvSpPr>
        <p:spPr>
          <a:xfrm>
            <a:off x="10835640" y="2377440"/>
            <a:ext cx="457200" cy="411480"/>
          </a:xfrm>
          <a:prstGeom prst="downArrow">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3246120"/>
            <a:ext cx="10058400" cy="1097280"/>
          </a:xfrm>
          <a:prstGeom prst="roundRect">
            <a:avLst>
              <a:gd name="adj" fmla="val 6000"/>
            </a:avLst>
          </a:prstGeom>
          <a:solidFill>
            <a:srgbClr val="FFFFFF"/>
          </a:solidFill>
          <a:ln w="19050">
            <a:solidFill>
              <a:srgbClr val="0A3D62"/>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246120"/>
            <a:ext cx="146304" cy="1097280"/>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10712"/>
            <a:ext cx="3657600" cy="731520"/>
          </a:xfrm>
          <a:prstGeom prst="rect">
            <a:avLst/>
          </a:prstGeom>
          <a:noFill/>
        </p:spPr>
        <p:txBody>
          <a:bodyPr wrap="square" anchor="ctr" lIns="50800" rIns="50800" tIns="25400" bIns="25400">
            <a:spAutoFit/>
          </a:bodyPr>
          <a:lstStyle/>
          <a:p>
            <a:pPr algn="l"/>
            <a:r>
              <a:rPr sz="1500" b="1" i="0">
                <a:solidFill>
                  <a:srgbClr val="0A3D62"/>
                </a:solidFill>
                <a:latin typeface="Montserrat"/>
              </a:rPr>
              <a:t>APPLICATION / MÉTIER</a:t>
            </a:r>
          </a:p>
        </p:txBody>
      </p:sp>
      <p:sp>
        <p:nvSpPr>
          <p:cNvPr id="14" name="TextBox 13"/>
          <p:cNvSpPr txBox="1"/>
          <p:nvPr/>
        </p:nvSpPr>
        <p:spPr>
          <a:xfrm>
            <a:off x="4206240" y="3410712"/>
            <a:ext cx="6309360" cy="777240"/>
          </a:xfrm>
          <a:prstGeom prst="rect">
            <a:avLst/>
          </a:prstGeom>
          <a:noFill/>
        </p:spPr>
        <p:txBody>
          <a:bodyPr wrap="square" anchor="ctr" lIns="50800" rIns="50800" tIns="25400" bIns="25400">
            <a:spAutoFit/>
          </a:bodyPr>
          <a:lstStyle/>
          <a:p>
            <a:pPr algn="l"/>
            <a:r>
              <a:rPr sz="1250" b="0" i="0">
                <a:solidFill>
                  <a:srgbClr val="2D3748"/>
                </a:solidFill>
                <a:latin typeface="Inter"/>
              </a:rPr>
              <a:t>Spring Boot (Java)  ·  API REST  ·  Spring Security + JWT (stateless)  ·  RBAC ADMIN / MEDECIN</a:t>
            </a:r>
          </a:p>
        </p:txBody>
      </p:sp>
      <p:sp>
        <p:nvSpPr>
          <p:cNvPr id="15" name="Down Arrow 14"/>
          <p:cNvSpPr/>
          <p:nvPr/>
        </p:nvSpPr>
        <p:spPr>
          <a:xfrm>
            <a:off x="10835640" y="3657600"/>
            <a:ext cx="457200" cy="411480"/>
          </a:xfrm>
          <a:prstGeom prst="downArrow">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4526279"/>
            <a:ext cx="10058400" cy="1097280"/>
          </a:xfrm>
          <a:prstGeom prst="roundRect">
            <a:avLst>
              <a:gd name="adj" fmla="val 6000"/>
            </a:avLst>
          </a:prstGeom>
          <a:solidFill>
            <a:srgbClr val="FFFFFF"/>
          </a:solidFill>
          <a:ln w="19050">
            <a:solidFill>
              <a:srgbClr val="2EC4B6"/>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526279"/>
            <a:ext cx="146304" cy="109728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690871"/>
            <a:ext cx="3657600" cy="731520"/>
          </a:xfrm>
          <a:prstGeom prst="rect">
            <a:avLst/>
          </a:prstGeom>
          <a:noFill/>
        </p:spPr>
        <p:txBody>
          <a:bodyPr wrap="square" anchor="ctr" lIns="50800" rIns="50800" tIns="25400" bIns="25400">
            <a:spAutoFit/>
          </a:bodyPr>
          <a:lstStyle/>
          <a:p>
            <a:pPr algn="l"/>
            <a:r>
              <a:rPr sz="1500" b="1" i="0">
                <a:solidFill>
                  <a:srgbClr val="2EC4B6"/>
                </a:solidFill>
                <a:latin typeface="Montserrat"/>
              </a:rPr>
              <a:t>DONNÉES</a:t>
            </a:r>
          </a:p>
        </p:txBody>
      </p:sp>
      <p:sp>
        <p:nvSpPr>
          <p:cNvPr id="19" name="TextBox 18"/>
          <p:cNvSpPr txBox="1"/>
          <p:nvPr/>
        </p:nvSpPr>
        <p:spPr>
          <a:xfrm>
            <a:off x="4206240" y="4690871"/>
            <a:ext cx="6309360" cy="777240"/>
          </a:xfrm>
          <a:prstGeom prst="rect">
            <a:avLst/>
          </a:prstGeom>
          <a:noFill/>
        </p:spPr>
        <p:txBody>
          <a:bodyPr wrap="square" anchor="ctr" lIns="50800" rIns="50800" tIns="25400" bIns="25400">
            <a:spAutoFit/>
          </a:bodyPr>
          <a:lstStyle/>
          <a:p>
            <a:pPr algn="l"/>
            <a:r>
              <a:rPr sz="1250" b="0" i="0">
                <a:solidFill>
                  <a:srgbClr val="2D3748"/>
                </a:solidFill>
                <a:latin typeface="Inter"/>
              </a:rPr>
              <a:t>PostgreSQL  ·  relationnel  ·  intégrité référentielle  ·  transactions ACID</a:t>
            </a:r>
          </a:p>
        </p:txBody>
      </p:sp>
      <p:sp>
        <p:nvSpPr>
          <p:cNvPr id="20" name="TextBox 19"/>
          <p:cNvSpPr txBox="1"/>
          <p:nvPr/>
        </p:nvSpPr>
        <p:spPr>
          <a:xfrm>
            <a:off x="640080" y="5989320"/>
            <a:ext cx="10515600" cy="365760"/>
          </a:xfrm>
          <a:prstGeom prst="rect">
            <a:avLst/>
          </a:prstGeom>
          <a:noFill/>
        </p:spPr>
        <p:txBody>
          <a:bodyPr wrap="square" anchor="t" lIns="50800" rIns="50800" tIns="25400" bIns="25400">
            <a:spAutoFit/>
          </a:bodyPr>
          <a:lstStyle/>
          <a:p>
            <a:pPr algn="l"/>
            <a:r>
              <a:rPr sz="1200" b="1" i="0">
                <a:solidFill>
                  <a:srgbClr val="718096"/>
                </a:solidFill>
                <a:latin typeface="Inter"/>
              </a:rPr>
              <a:t>Flux : </a:t>
            </a:r>
            <a:r>
              <a:rPr sz="1200" b="0" i="0">
                <a:solidFill>
                  <a:srgbClr val="2D3748"/>
                </a:solidFill>
                <a:latin typeface="Inter"/>
              </a:rPr>
              <a:t>Navigateur → HTTPS → API REST → service métier → JPA → PostgreSQL</a:t>
            </a:r>
          </a:p>
        </p:txBody>
      </p:sp>
      <p:sp>
        <p:nvSpPr>
          <p:cNvPr id="21" name="TextBox 20"/>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22" name="TextBox 21"/>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4 · LA CONSTRUCTION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Du dossier papier au compte activé — en ligne</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286000"/>
            <a:ext cx="2057400" cy="1554480"/>
          </a:xfrm>
          <a:prstGeom prst="roundRect">
            <a:avLst>
              <a:gd name="adj" fmla="val 8000"/>
            </a:avLst>
          </a:prstGeom>
          <a:solidFill>
            <a:srgbClr val="FFFFFF"/>
          </a:solidFill>
          <a:ln w="19050">
            <a:solidFill>
              <a:srgbClr val="2EC4B6"/>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86000"/>
            <a:ext cx="2057400" cy="41148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86000"/>
            <a:ext cx="2057400" cy="411480"/>
          </a:xfrm>
          <a:prstGeom prst="rect">
            <a:avLst/>
          </a:prstGeom>
          <a:noFill/>
        </p:spPr>
        <p:txBody>
          <a:bodyPr wrap="square" anchor="ctr" lIns="50800" rIns="50800" tIns="25400" bIns="25400">
            <a:spAutoFit/>
          </a:bodyPr>
          <a:lstStyle/>
          <a:p>
            <a:pPr algn="ctr"/>
            <a:r>
              <a:rPr sz="1250" b="1" i="0">
                <a:solidFill>
                  <a:srgbClr val="FFFFFF"/>
                </a:solidFill>
                <a:latin typeface="Montserrat"/>
              </a:rPr>
              <a:t>Médecin</a:t>
            </a:r>
          </a:p>
        </p:txBody>
      </p:sp>
      <p:sp>
        <p:nvSpPr>
          <p:cNvPr id="9" name="TextBox 8"/>
          <p:cNvSpPr txBox="1"/>
          <p:nvPr/>
        </p:nvSpPr>
        <p:spPr>
          <a:xfrm>
            <a:off x="658368" y="2788920"/>
            <a:ext cx="1828800" cy="1005840"/>
          </a:xfrm>
          <a:prstGeom prst="rect">
            <a:avLst/>
          </a:prstGeom>
          <a:noFill/>
        </p:spPr>
        <p:txBody>
          <a:bodyPr wrap="square" anchor="ctr" lIns="50800" rIns="50800" tIns="25400" bIns="25400">
            <a:spAutoFit/>
          </a:bodyPr>
          <a:lstStyle/>
          <a:p>
            <a:pPr algn="ctr"/>
            <a:r>
              <a:rPr sz="1150" b="0" i="0">
                <a:solidFill>
                  <a:srgbClr val="2D3748"/>
                </a:solidFill>
                <a:latin typeface="Inter"/>
              </a:rPr>
              <a:t>Dépose la demande</a:t>
            </a:r>
          </a:p>
          <a:p>
            <a:pPr algn="ctr"/>
            <a:r>
              <a:rPr sz="1150" b="0" i="0">
                <a:solidFill>
                  <a:srgbClr val="2D3748"/>
                </a:solidFill>
                <a:latin typeface="Inter"/>
              </a:rPr>
              <a:t>(5 étapes guidées)</a:t>
            </a:r>
          </a:p>
        </p:txBody>
      </p:sp>
      <p:sp>
        <p:nvSpPr>
          <p:cNvPr id="10" name="Chevron 9"/>
          <p:cNvSpPr/>
          <p:nvPr/>
        </p:nvSpPr>
        <p:spPr>
          <a:xfrm>
            <a:off x="2624328" y="2880360"/>
            <a:ext cx="201168" cy="320040"/>
          </a:xfrm>
          <a:prstGeom prst="chevron">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2286000"/>
            <a:ext cx="2057400" cy="1554480"/>
          </a:xfrm>
          <a:prstGeom prst="roundRect">
            <a:avLst>
              <a:gd name="adj" fmla="val 8000"/>
            </a:avLst>
          </a:prstGeom>
          <a:solidFill>
            <a:srgbClr val="FFFFFF"/>
          </a:solidFill>
          <a:ln w="19050">
            <a:solidFill>
              <a:srgbClr val="0A3D62"/>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34640" y="2286000"/>
            <a:ext cx="2057400" cy="411480"/>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2286000"/>
            <a:ext cx="2057400" cy="411480"/>
          </a:xfrm>
          <a:prstGeom prst="rect">
            <a:avLst/>
          </a:prstGeom>
          <a:noFill/>
        </p:spPr>
        <p:txBody>
          <a:bodyPr wrap="square" anchor="ctr" lIns="50800" rIns="50800" tIns="25400" bIns="25400">
            <a:spAutoFit/>
          </a:bodyPr>
          <a:lstStyle/>
          <a:p>
            <a:pPr algn="ctr"/>
            <a:r>
              <a:rPr sz="1250" b="1" i="0">
                <a:solidFill>
                  <a:srgbClr val="FFFFFF"/>
                </a:solidFill>
                <a:latin typeface="Montserrat"/>
              </a:rPr>
              <a:t>Admin</a:t>
            </a:r>
          </a:p>
        </p:txBody>
      </p:sp>
      <p:sp>
        <p:nvSpPr>
          <p:cNvPr id="14" name="TextBox 13"/>
          <p:cNvSpPr txBox="1"/>
          <p:nvPr/>
        </p:nvSpPr>
        <p:spPr>
          <a:xfrm>
            <a:off x="2944368" y="2788920"/>
            <a:ext cx="1828800" cy="1005840"/>
          </a:xfrm>
          <a:prstGeom prst="rect">
            <a:avLst/>
          </a:prstGeom>
          <a:noFill/>
        </p:spPr>
        <p:txBody>
          <a:bodyPr wrap="square" anchor="ctr" lIns="50800" rIns="50800" tIns="25400" bIns="25400">
            <a:spAutoFit/>
          </a:bodyPr>
          <a:lstStyle/>
          <a:p>
            <a:pPr algn="ctr"/>
            <a:r>
              <a:rPr sz="1150" b="0" i="0">
                <a:solidFill>
                  <a:srgbClr val="2D3748"/>
                </a:solidFill>
                <a:latin typeface="Inter"/>
              </a:rPr>
              <a:t>Instruit</a:t>
            </a:r>
          </a:p>
          <a:p>
            <a:pPr algn="ctr"/>
            <a:r>
              <a:rPr sz="1150" b="0" i="0">
                <a:solidFill>
                  <a:srgbClr val="2D3748"/>
                </a:solidFill>
                <a:latin typeface="Inter"/>
              </a:rPr>
              <a:t>&amp; vérifie</a:t>
            </a:r>
          </a:p>
        </p:txBody>
      </p:sp>
      <p:sp>
        <p:nvSpPr>
          <p:cNvPr id="15" name="Chevron 14"/>
          <p:cNvSpPr/>
          <p:nvPr/>
        </p:nvSpPr>
        <p:spPr>
          <a:xfrm>
            <a:off x="4910328" y="2880360"/>
            <a:ext cx="201168" cy="320040"/>
          </a:xfrm>
          <a:prstGeom prst="chevron">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20640" y="2286000"/>
            <a:ext cx="2057400" cy="1554480"/>
          </a:xfrm>
          <a:prstGeom prst="roundRect">
            <a:avLst>
              <a:gd name="adj" fmla="val 8000"/>
            </a:avLst>
          </a:prstGeom>
          <a:solidFill>
            <a:srgbClr val="FFFFFF"/>
          </a:solidFill>
          <a:ln w="19050">
            <a:solidFill>
              <a:srgbClr val="1B9AAA"/>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0" y="2286000"/>
            <a:ext cx="2057400" cy="4114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0" y="2286000"/>
            <a:ext cx="2057400" cy="411480"/>
          </a:xfrm>
          <a:prstGeom prst="rect">
            <a:avLst/>
          </a:prstGeom>
          <a:noFill/>
        </p:spPr>
        <p:txBody>
          <a:bodyPr wrap="square" anchor="ctr" lIns="50800" rIns="50800" tIns="25400" bIns="25400">
            <a:spAutoFit/>
          </a:bodyPr>
          <a:lstStyle/>
          <a:p>
            <a:pPr algn="ctr"/>
            <a:r>
              <a:rPr sz="1250" b="1" i="0">
                <a:solidFill>
                  <a:srgbClr val="FFFFFF"/>
                </a:solidFill>
                <a:latin typeface="Montserrat"/>
              </a:rPr>
              <a:t>Validation</a:t>
            </a:r>
          </a:p>
        </p:txBody>
      </p:sp>
      <p:sp>
        <p:nvSpPr>
          <p:cNvPr id="19" name="TextBox 18"/>
          <p:cNvSpPr txBox="1"/>
          <p:nvPr/>
        </p:nvSpPr>
        <p:spPr>
          <a:xfrm>
            <a:off x="5230368" y="2788920"/>
            <a:ext cx="1828800" cy="1005840"/>
          </a:xfrm>
          <a:prstGeom prst="rect">
            <a:avLst/>
          </a:prstGeom>
          <a:noFill/>
        </p:spPr>
        <p:txBody>
          <a:bodyPr wrap="square" anchor="ctr" lIns="50800" rIns="50800" tIns="25400" bIns="25400">
            <a:spAutoFit/>
          </a:bodyPr>
          <a:lstStyle/>
          <a:p>
            <a:pPr algn="ctr"/>
            <a:r>
              <a:rPr sz="1150" b="0" i="0">
                <a:solidFill>
                  <a:srgbClr val="2D3748"/>
                </a:solidFill>
                <a:latin typeface="Inter"/>
              </a:rPr>
              <a:t>Décision</a:t>
            </a:r>
          </a:p>
          <a:p>
            <a:pPr algn="ctr"/>
            <a:r>
              <a:rPr sz="1150" b="0" i="0">
                <a:solidFill>
                  <a:srgbClr val="2D3748"/>
                </a:solidFill>
                <a:latin typeface="Inter"/>
              </a:rPr>
              <a:t>+ e-mail d'activation</a:t>
            </a:r>
          </a:p>
        </p:txBody>
      </p:sp>
      <p:sp>
        <p:nvSpPr>
          <p:cNvPr id="20" name="Chevron 19"/>
          <p:cNvSpPr/>
          <p:nvPr/>
        </p:nvSpPr>
        <p:spPr>
          <a:xfrm>
            <a:off x="7196327" y="2880360"/>
            <a:ext cx="201168" cy="320040"/>
          </a:xfrm>
          <a:prstGeom prst="chevron">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06640" y="2286000"/>
            <a:ext cx="2057400" cy="1554480"/>
          </a:xfrm>
          <a:prstGeom prst="roundRect">
            <a:avLst>
              <a:gd name="adj" fmla="val 8000"/>
            </a:avLst>
          </a:prstGeom>
          <a:solidFill>
            <a:srgbClr val="FFFFFF"/>
          </a:solidFill>
          <a:ln w="19050">
            <a:solidFill>
              <a:srgbClr val="2EC4B6"/>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06640" y="2286000"/>
            <a:ext cx="2057400" cy="41148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0" y="2286000"/>
            <a:ext cx="2057400" cy="411480"/>
          </a:xfrm>
          <a:prstGeom prst="rect">
            <a:avLst/>
          </a:prstGeom>
          <a:noFill/>
        </p:spPr>
        <p:txBody>
          <a:bodyPr wrap="square" anchor="ctr" lIns="50800" rIns="50800" tIns="25400" bIns="25400">
            <a:spAutoFit/>
          </a:bodyPr>
          <a:lstStyle/>
          <a:p>
            <a:pPr algn="ctr"/>
            <a:r>
              <a:rPr sz="1250" b="1" i="0">
                <a:solidFill>
                  <a:srgbClr val="FFFFFF"/>
                </a:solidFill>
                <a:latin typeface="Montserrat"/>
              </a:rPr>
              <a:t>Médecin</a:t>
            </a:r>
          </a:p>
        </p:txBody>
      </p:sp>
      <p:sp>
        <p:nvSpPr>
          <p:cNvPr id="24" name="TextBox 23"/>
          <p:cNvSpPr txBox="1"/>
          <p:nvPr/>
        </p:nvSpPr>
        <p:spPr>
          <a:xfrm>
            <a:off x="7516367" y="2788920"/>
            <a:ext cx="1828800" cy="1005840"/>
          </a:xfrm>
          <a:prstGeom prst="rect">
            <a:avLst/>
          </a:prstGeom>
          <a:noFill/>
        </p:spPr>
        <p:txBody>
          <a:bodyPr wrap="square" anchor="ctr" lIns="50800" rIns="50800" tIns="25400" bIns="25400">
            <a:spAutoFit/>
          </a:bodyPr>
          <a:lstStyle/>
          <a:p>
            <a:pPr algn="ctr"/>
            <a:r>
              <a:rPr sz="1150" b="0" i="0">
                <a:solidFill>
                  <a:srgbClr val="2D3748"/>
                </a:solidFill>
                <a:latin typeface="Inter"/>
              </a:rPr>
              <a:t>Confirme e-mail +</a:t>
            </a:r>
          </a:p>
          <a:p>
            <a:pPr algn="ctr"/>
            <a:r>
              <a:rPr sz="1150" b="0" i="0">
                <a:solidFill>
                  <a:srgbClr val="2D3748"/>
                </a:solidFill>
                <a:latin typeface="Inter"/>
              </a:rPr>
              <a:t>mot de passe (BCrypt)</a:t>
            </a:r>
          </a:p>
        </p:txBody>
      </p:sp>
      <p:sp>
        <p:nvSpPr>
          <p:cNvPr id="25" name="Chevron 24"/>
          <p:cNvSpPr/>
          <p:nvPr/>
        </p:nvSpPr>
        <p:spPr>
          <a:xfrm>
            <a:off x="9482328" y="2880360"/>
            <a:ext cx="201168" cy="320040"/>
          </a:xfrm>
          <a:prstGeom prst="chevron">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92640" y="2286000"/>
            <a:ext cx="2057400" cy="1554480"/>
          </a:xfrm>
          <a:prstGeom prst="roundRect">
            <a:avLst>
              <a:gd name="adj" fmla="val 8000"/>
            </a:avLst>
          </a:prstGeom>
          <a:solidFill>
            <a:srgbClr val="FFFFFF"/>
          </a:solidFill>
          <a:ln w="19050">
            <a:solidFill>
              <a:srgbClr val="0A3D62"/>
            </a:solid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92640" y="2286000"/>
            <a:ext cx="2057400" cy="411480"/>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2286000"/>
            <a:ext cx="2057400" cy="411480"/>
          </a:xfrm>
          <a:prstGeom prst="rect">
            <a:avLst/>
          </a:prstGeom>
          <a:noFill/>
        </p:spPr>
        <p:txBody>
          <a:bodyPr wrap="square" anchor="ctr" lIns="50800" rIns="50800" tIns="25400" bIns="25400">
            <a:spAutoFit/>
          </a:bodyPr>
          <a:lstStyle/>
          <a:p>
            <a:pPr algn="ctr"/>
            <a:r>
              <a:rPr sz="1250" b="1" i="0">
                <a:solidFill>
                  <a:srgbClr val="FFFFFF"/>
                </a:solidFill>
                <a:latin typeface="Montserrat"/>
              </a:rPr>
              <a:t>Système</a:t>
            </a:r>
          </a:p>
        </p:txBody>
      </p:sp>
      <p:sp>
        <p:nvSpPr>
          <p:cNvPr id="29" name="TextBox 28"/>
          <p:cNvSpPr txBox="1"/>
          <p:nvPr/>
        </p:nvSpPr>
        <p:spPr>
          <a:xfrm>
            <a:off x="9802367" y="2788920"/>
            <a:ext cx="1828800" cy="1005840"/>
          </a:xfrm>
          <a:prstGeom prst="rect">
            <a:avLst/>
          </a:prstGeom>
          <a:noFill/>
        </p:spPr>
        <p:txBody>
          <a:bodyPr wrap="square" anchor="ctr" lIns="50800" rIns="50800" tIns="25400" bIns="25400">
            <a:spAutoFit/>
          </a:bodyPr>
          <a:lstStyle/>
          <a:p>
            <a:pPr algn="ctr"/>
            <a:r>
              <a:rPr sz="1150" b="0" i="0">
                <a:solidFill>
                  <a:srgbClr val="2D3748"/>
                </a:solidFill>
                <a:latin typeface="Inter"/>
              </a:rPr>
              <a:t>Compte actif +</a:t>
            </a:r>
          </a:p>
          <a:p>
            <a:pPr algn="ctr"/>
            <a:r>
              <a:rPr sz="1150" b="0" i="0">
                <a:solidFill>
                  <a:srgbClr val="2D3748"/>
                </a:solidFill>
                <a:latin typeface="Inter"/>
              </a:rPr>
              <a:t>registre officiel</a:t>
            </a:r>
          </a:p>
        </p:txBody>
      </p:sp>
      <p:sp>
        <p:nvSpPr>
          <p:cNvPr id="30" name="Rounded Rectangle 29"/>
          <p:cNvSpPr/>
          <p:nvPr/>
        </p:nvSpPr>
        <p:spPr>
          <a:xfrm>
            <a:off x="1828800" y="4297680"/>
            <a:ext cx="5029200" cy="640080"/>
          </a:xfrm>
          <a:prstGeom prst="roundRect">
            <a:avLst>
              <a:gd name="adj" fmla="val 20000"/>
            </a:avLst>
          </a:prstGeom>
          <a:solidFill>
            <a:srgbClr val="FDECEA"/>
          </a:solidFill>
          <a:ln w="1270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11680" y="4297680"/>
            <a:ext cx="4754880" cy="640080"/>
          </a:xfrm>
          <a:prstGeom prst="rect">
            <a:avLst/>
          </a:prstGeom>
          <a:noFill/>
        </p:spPr>
        <p:txBody>
          <a:bodyPr wrap="square" anchor="ctr" lIns="50800" rIns="50800" tIns="25400" bIns="25400">
            <a:spAutoFit/>
          </a:bodyPr>
          <a:lstStyle/>
          <a:p>
            <a:pPr algn="l"/>
            <a:r>
              <a:rPr sz="1200" b="1" i="0">
                <a:solidFill>
                  <a:srgbClr val="E63946"/>
                </a:solidFill>
                <a:latin typeface="Inter"/>
              </a:rPr>
              <a:t>Branche Rejet : </a:t>
            </a:r>
            <a:r>
              <a:rPr sz="1200" b="0" i="0">
                <a:solidFill>
                  <a:srgbClr val="2D3748"/>
                </a:solidFill>
                <a:latin typeface="Inter"/>
              </a:rPr>
              <a:t>notification motivée au médecin</a:t>
            </a:r>
          </a:p>
        </p:txBody>
      </p:sp>
      <p:sp>
        <p:nvSpPr>
          <p:cNvPr id="32" name="Rounded Rectangle 31"/>
          <p:cNvSpPr/>
          <p:nvPr/>
        </p:nvSpPr>
        <p:spPr>
          <a:xfrm>
            <a:off x="7223760" y="4297680"/>
            <a:ext cx="4297680" cy="640080"/>
          </a:xfrm>
          <a:prstGeom prst="roundRect">
            <a:avLst>
              <a:gd name="adj" fmla="val 20000"/>
            </a:avLst>
          </a:prstGeom>
          <a:solidFill>
            <a:srgbClr val="E8F7F5"/>
          </a:solidFill>
          <a:ln w="1270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4297680"/>
            <a:ext cx="3931920" cy="640080"/>
          </a:xfrm>
          <a:prstGeom prst="rect">
            <a:avLst/>
          </a:prstGeom>
          <a:noFill/>
        </p:spPr>
        <p:txBody>
          <a:bodyPr wrap="square" anchor="ctr" lIns="50800" rIns="50800" tIns="25400" bIns="25400">
            <a:spAutoFit/>
          </a:bodyPr>
          <a:lstStyle/>
          <a:p>
            <a:pPr algn="l"/>
            <a:r>
              <a:rPr sz="1200" b="0" i="0">
                <a:solidFill>
                  <a:srgbClr val="2D3748"/>
                </a:solidFill>
                <a:latin typeface="Inter"/>
              </a:rPr>
              <a:t>Chaque transition d'état est </a:t>
            </a:r>
            <a:r>
              <a:rPr sz="1200" b="1" i="0">
                <a:solidFill>
                  <a:srgbClr val="2EC4B6"/>
                </a:solidFill>
                <a:latin typeface="Inter"/>
              </a:rPr>
              <a:t>historisée</a:t>
            </a:r>
          </a:p>
        </p:txBody>
      </p:sp>
      <p:sp>
        <p:nvSpPr>
          <p:cNvPr id="34" name="TextBox 33"/>
          <p:cNvSpPr txBox="1"/>
          <p:nvPr/>
        </p:nvSpPr>
        <p:spPr>
          <a:xfrm>
            <a:off x="640080" y="5303520"/>
            <a:ext cx="10515600" cy="640080"/>
          </a:xfrm>
          <a:prstGeom prst="rect">
            <a:avLst/>
          </a:prstGeom>
          <a:noFill/>
        </p:spPr>
        <p:txBody>
          <a:bodyPr wrap="square" anchor="t" lIns="50800" rIns="50800" tIns="25400" bIns="25400">
            <a:spAutoFit/>
          </a:bodyPr>
          <a:lstStyle/>
          <a:p>
            <a:pPr algn="l"/>
            <a:r>
              <a:rPr sz="1400" b="1" i="0">
                <a:solidFill>
                  <a:srgbClr val="0A3D62"/>
                </a:solidFill>
                <a:latin typeface="Inter"/>
              </a:rPr>
              <a:t>Deux points clés : </a:t>
            </a:r>
            <a:r>
              <a:rPr sz="1400" b="0" i="0">
                <a:solidFill>
                  <a:srgbClr val="2D3748"/>
                </a:solidFill>
                <a:latin typeface="Inter"/>
              </a:rPr>
              <a:t>la traçabilité (chaque changement de statut est tracé) et la sécurité (mot de passe jamais en clair, BCrypt).</a:t>
            </a:r>
          </a:p>
        </p:txBody>
      </p:sp>
      <p:sp>
        <p:nvSpPr>
          <p:cNvPr id="35" name="TextBox 34"/>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6" name="TextBox 35"/>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3D6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E8B04B"/>
                </a:solidFill>
                <a:latin typeface="Montserrat"/>
              </a:rPr>
              <a:t>5 · LA SÉCURITÉ</a:t>
            </a:r>
          </a:p>
        </p:txBody>
      </p:sp>
      <p:sp>
        <p:nvSpPr>
          <p:cNvPr id="4" name="TextBox 3"/>
          <p:cNvSpPr txBox="1"/>
          <p:nvPr/>
        </p:nvSpPr>
        <p:spPr>
          <a:xfrm>
            <a:off x="548640" y="777240"/>
            <a:ext cx="11064240" cy="822960"/>
          </a:xfrm>
          <a:prstGeom prst="rect">
            <a:avLst/>
          </a:prstGeom>
          <a:noFill/>
        </p:spPr>
        <p:txBody>
          <a:bodyPr wrap="square" anchor="t" lIns="50800" rIns="50800" tIns="25400" bIns="25400">
            <a:spAutoFit/>
          </a:bodyPr>
          <a:lstStyle/>
          <a:p>
            <a:pPr algn="l"/>
            <a:r>
              <a:rPr sz="3000" b="1" i="0">
                <a:solidFill>
                  <a:srgbClr val="FFFFFF"/>
                </a:solidFill>
                <a:latin typeface="Montserrat"/>
              </a:rPr>
              <a:t>Sécurité by design : identité, accès, secrets</a:t>
            </a:r>
          </a:p>
        </p:txBody>
      </p:sp>
      <p:sp>
        <p:nvSpPr>
          <p:cNvPr id="5" name="Rectangle 4"/>
          <p:cNvSpPr/>
          <p:nvPr/>
        </p:nvSpPr>
        <p:spPr>
          <a:xfrm>
            <a:off x="566928" y="1572768"/>
            <a:ext cx="146304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11680"/>
            <a:ext cx="3520440" cy="3840480"/>
          </a:xfrm>
          <a:prstGeom prst="roundRect">
            <a:avLst>
              <a:gd name="adj" fmla="val 6000"/>
            </a:avLst>
          </a:prstGeom>
          <a:solidFill>
            <a:srgbClr val="0E4F7C"/>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11680"/>
            <a:ext cx="3520440" cy="1097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3017520" cy="457200"/>
          </a:xfrm>
          <a:prstGeom prst="rect">
            <a:avLst/>
          </a:prstGeom>
          <a:noFill/>
        </p:spPr>
        <p:txBody>
          <a:bodyPr wrap="square" anchor="t" lIns="50800" rIns="50800" tIns="25400" bIns="25400">
            <a:spAutoFit/>
          </a:bodyPr>
          <a:lstStyle/>
          <a:p>
            <a:pPr algn="l"/>
            <a:r>
              <a:rPr sz="1700" b="1" i="0">
                <a:solidFill>
                  <a:srgbClr val="FFFFFF"/>
                </a:solidFill>
                <a:latin typeface="Montserrat"/>
              </a:rPr>
              <a:t>Authentification</a:t>
            </a:r>
          </a:p>
        </p:txBody>
      </p:sp>
      <p:sp>
        <p:nvSpPr>
          <p:cNvPr id="9" name="Rounded Rectangle 8"/>
          <p:cNvSpPr/>
          <p:nvPr/>
        </p:nvSpPr>
        <p:spPr>
          <a:xfrm>
            <a:off x="914400" y="2788920"/>
            <a:ext cx="2971800" cy="50292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8920"/>
            <a:ext cx="2971800" cy="502920"/>
          </a:xfrm>
          <a:prstGeom prst="rect">
            <a:avLst/>
          </a:prstGeom>
          <a:noFill/>
        </p:spPr>
        <p:txBody>
          <a:bodyPr wrap="square" anchor="ctr" lIns="50800" rIns="50800" tIns="25400" bIns="25400">
            <a:spAutoFit/>
          </a:bodyPr>
          <a:lstStyle/>
          <a:p>
            <a:pPr algn="ctr"/>
            <a:r>
              <a:rPr sz="1300" b="1" i="0">
                <a:solidFill>
                  <a:srgbClr val="FFFFFF"/>
                </a:solidFill>
                <a:latin typeface="Montserrat"/>
              </a:rPr>
              <a:t>JWT</a:t>
            </a:r>
          </a:p>
        </p:txBody>
      </p:sp>
      <p:sp>
        <p:nvSpPr>
          <p:cNvPr id="11" name="TextBox 10"/>
          <p:cNvSpPr txBox="1"/>
          <p:nvPr/>
        </p:nvSpPr>
        <p:spPr>
          <a:xfrm>
            <a:off x="960119" y="3520440"/>
            <a:ext cx="2926080" cy="2194560"/>
          </a:xfrm>
          <a:prstGeom prst="rect">
            <a:avLst/>
          </a:prstGeom>
          <a:noFill/>
        </p:spPr>
        <p:txBody>
          <a:bodyPr wrap="square" anchor="t" lIns="50800" rIns="50800" tIns="25400" bIns="25400">
            <a:spAutoFit/>
          </a:bodyPr>
          <a:lstStyle/>
          <a:p>
            <a:pPr algn="l"/>
            <a:r>
              <a:rPr sz="1250" b="0" i="0">
                <a:solidFill>
                  <a:srgbClr val="D8E8EE"/>
                </a:solidFill>
                <a:latin typeface="Inter"/>
              </a:rPr>
              <a:t>•  Jeton signé renvoyé</a:t>
            </a:r>
          </a:p>
          <a:p>
            <a:pPr algn="l"/>
            <a:r>
              <a:rPr sz="1250" b="0" i="0">
                <a:solidFill>
                  <a:srgbClr val="D8E8EE"/>
                </a:solidFill>
                <a:latin typeface="Inter"/>
              </a:rPr>
              <a:t>•  au login</a:t>
            </a:r>
          </a:p>
          <a:p>
            <a:pPr algn="l"/>
            <a:r>
              <a:rPr sz="1250" b="0" i="0">
                <a:solidFill>
                  <a:srgbClr val="D8E8EE"/>
                </a:solidFill>
                <a:latin typeface="Inter"/>
              </a:rPr>
              <a:t>•  Politique stateless :</a:t>
            </a:r>
          </a:p>
          <a:p>
            <a:pPr algn="l"/>
            <a:r>
              <a:rPr sz="1250" b="0" i="0">
                <a:solidFill>
                  <a:srgbClr val="D8E8EE"/>
                </a:solidFill>
                <a:latin typeface="Inter"/>
              </a:rPr>
              <a:t>•  aucune session serveur</a:t>
            </a:r>
          </a:p>
          <a:p>
            <a:pPr algn="l"/>
            <a:r>
              <a:rPr sz="1250" b="0" i="0">
                <a:solidFill>
                  <a:srgbClr val="D8E8EE"/>
                </a:solidFill>
                <a:latin typeface="Inter"/>
              </a:rPr>
              <a:t>•  Validé à chaque requête</a:t>
            </a:r>
          </a:p>
        </p:txBody>
      </p:sp>
      <p:sp>
        <p:nvSpPr>
          <p:cNvPr id="12" name="Rounded Rectangle 11"/>
          <p:cNvSpPr/>
          <p:nvPr/>
        </p:nvSpPr>
        <p:spPr>
          <a:xfrm>
            <a:off x="4343400" y="2011680"/>
            <a:ext cx="3520440" cy="3840480"/>
          </a:xfrm>
          <a:prstGeom prst="roundRect">
            <a:avLst>
              <a:gd name="adj" fmla="val 6000"/>
            </a:avLst>
          </a:prstGeom>
          <a:solidFill>
            <a:srgbClr val="0E4F7C"/>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011680"/>
            <a:ext cx="3520440" cy="10972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286000"/>
            <a:ext cx="3017520" cy="457200"/>
          </a:xfrm>
          <a:prstGeom prst="rect">
            <a:avLst/>
          </a:prstGeom>
          <a:noFill/>
        </p:spPr>
        <p:txBody>
          <a:bodyPr wrap="square" anchor="t" lIns="50800" rIns="50800" tIns="25400" bIns="25400">
            <a:spAutoFit/>
          </a:bodyPr>
          <a:lstStyle/>
          <a:p>
            <a:pPr algn="l"/>
            <a:r>
              <a:rPr sz="1700" b="1" i="0">
                <a:solidFill>
                  <a:srgbClr val="FFFFFF"/>
                </a:solidFill>
                <a:latin typeface="Montserrat"/>
              </a:rPr>
              <a:t>Autorisation</a:t>
            </a:r>
          </a:p>
        </p:txBody>
      </p:sp>
      <p:sp>
        <p:nvSpPr>
          <p:cNvPr id="15" name="Rounded Rectangle 14"/>
          <p:cNvSpPr/>
          <p:nvPr/>
        </p:nvSpPr>
        <p:spPr>
          <a:xfrm>
            <a:off x="4617720" y="2788920"/>
            <a:ext cx="2971800" cy="50292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788920"/>
            <a:ext cx="2971800" cy="502920"/>
          </a:xfrm>
          <a:prstGeom prst="rect">
            <a:avLst/>
          </a:prstGeom>
          <a:noFill/>
        </p:spPr>
        <p:txBody>
          <a:bodyPr wrap="square" anchor="ctr" lIns="50800" rIns="50800" tIns="25400" bIns="25400">
            <a:spAutoFit/>
          </a:bodyPr>
          <a:lstStyle/>
          <a:p>
            <a:pPr algn="ctr"/>
            <a:r>
              <a:rPr sz="1300" b="1" i="0">
                <a:solidFill>
                  <a:srgbClr val="FFFFFF"/>
                </a:solidFill>
                <a:latin typeface="Montserrat"/>
              </a:rPr>
              <a:t>RBAC · Spring Security</a:t>
            </a:r>
          </a:p>
        </p:txBody>
      </p:sp>
      <p:sp>
        <p:nvSpPr>
          <p:cNvPr id="17" name="TextBox 16"/>
          <p:cNvSpPr txBox="1"/>
          <p:nvPr/>
        </p:nvSpPr>
        <p:spPr>
          <a:xfrm>
            <a:off x="4663440" y="3520440"/>
            <a:ext cx="2926080" cy="2194560"/>
          </a:xfrm>
          <a:prstGeom prst="rect">
            <a:avLst/>
          </a:prstGeom>
          <a:noFill/>
        </p:spPr>
        <p:txBody>
          <a:bodyPr wrap="square" anchor="t" lIns="50800" rIns="50800" tIns="25400" bIns="25400">
            <a:spAutoFit/>
          </a:bodyPr>
          <a:lstStyle/>
          <a:p>
            <a:pPr algn="l"/>
            <a:r>
              <a:rPr sz="1250" b="0" i="0">
                <a:solidFill>
                  <a:srgbClr val="D8E8EE"/>
                </a:solidFill>
                <a:latin typeface="Inter"/>
              </a:rPr>
              <a:t>•  Rôles ADMIN / MEDECIN</a:t>
            </a:r>
          </a:p>
          <a:p>
            <a:pPr algn="l"/>
            <a:r>
              <a:rPr sz="1250" b="0" i="0">
                <a:solidFill>
                  <a:srgbClr val="D8E8EE"/>
                </a:solidFill>
                <a:latin typeface="Inter"/>
              </a:rPr>
              <a:t>•  Chaque route filtrée</a:t>
            </a:r>
          </a:p>
          <a:p>
            <a:pPr algn="l"/>
            <a:r>
              <a:rPr sz="1250" b="0" i="0">
                <a:solidFill>
                  <a:srgbClr val="D8E8EE"/>
                </a:solidFill>
                <a:latin typeface="Inter"/>
              </a:rPr>
              <a:t>•  Principe du moindre</a:t>
            </a:r>
          </a:p>
          <a:p>
            <a:pPr algn="l"/>
            <a:r>
              <a:rPr sz="1250" b="0" i="0">
                <a:solidFill>
                  <a:srgbClr val="D8E8EE"/>
                </a:solidFill>
                <a:latin typeface="Inter"/>
              </a:rPr>
              <a:t>•  privilège</a:t>
            </a:r>
          </a:p>
        </p:txBody>
      </p:sp>
      <p:sp>
        <p:nvSpPr>
          <p:cNvPr id="18" name="Rounded Rectangle 17"/>
          <p:cNvSpPr/>
          <p:nvPr/>
        </p:nvSpPr>
        <p:spPr>
          <a:xfrm>
            <a:off x="8046719" y="2011680"/>
            <a:ext cx="3520440" cy="3840480"/>
          </a:xfrm>
          <a:prstGeom prst="roundRect">
            <a:avLst>
              <a:gd name="adj" fmla="val 6000"/>
            </a:avLst>
          </a:prstGeom>
          <a:solidFill>
            <a:srgbClr val="0E4F7C"/>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19" y="2011680"/>
            <a:ext cx="3520440" cy="109728"/>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286000"/>
            <a:ext cx="3017520" cy="457200"/>
          </a:xfrm>
          <a:prstGeom prst="rect">
            <a:avLst/>
          </a:prstGeom>
          <a:noFill/>
        </p:spPr>
        <p:txBody>
          <a:bodyPr wrap="square" anchor="t" lIns="50800" rIns="50800" tIns="25400" bIns="25400">
            <a:spAutoFit/>
          </a:bodyPr>
          <a:lstStyle/>
          <a:p>
            <a:pPr algn="l"/>
            <a:r>
              <a:rPr sz="1700" b="1" i="0">
                <a:solidFill>
                  <a:srgbClr val="FFFFFF"/>
                </a:solidFill>
                <a:latin typeface="Montserrat"/>
              </a:rPr>
              <a:t>Secrets</a:t>
            </a:r>
          </a:p>
        </p:txBody>
      </p:sp>
      <p:sp>
        <p:nvSpPr>
          <p:cNvPr id="21" name="Rounded Rectangle 20"/>
          <p:cNvSpPr/>
          <p:nvPr/>
        </p:nvSpPr>
        <p:spPr>
          <a:xfrm>
            <a:off x="8321040" y="2788920"/>
            <a:ext cx="2971800" cy="502920"/>
          </a:xfrm>
          <a:prstGeom prst="roundRect">
            <a:avLst>
              <a:gd name="adj" fmla="val 50000"/>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2788920"/>
            <a:ext cx="2971800" cy="502920"/>
          </a:xfrm>
          <a:prstGeom prst="rect">
            <a:avLst/>
          </a:prstGeom>
          <a:noFill/>
        </p:spPr>
        <p:txBody>
          <a:bodyPr wrap="square" anchor="ctr" lIns="50800" rIns="50800" tIns="25400" bIns="25400">
            <a:spAutoFit/>
          </a:bodyPr>
          <a:lstStyle/>
          <a:p>
            <a:pPr algn="ctr"/>
            <a:r>
              <a:rPr sz="1300" b="1" i="0">
                <a:solidFill>
                  <a:srgbClr val="FFFFFF"/>
                </a:solidFill>
                <a:latin typeface="Montserrat"/>
              </a:rPr>
              <a:t>BCrypt + Salt</a:t>
            </a:r>
          </a:p>
        </p:txBody>
      </p:sp>
      <p:sp>
        <p:nvSpPr>
          <p:cNvPr id="23" name="TextBox 22"/>
          <p:cNvSpPr txBox="1"/>
          <p:nvPr/>
        </p:nvSpPr>
        <p:spPr>
          <a:xfrm>
            <a:off x="8366759" y="3520440"/>
            <a:ext cx="2926080" cy="2194560"/>
          </a:xfrm>
          <a:prstGeom prst="rect">
            <a:avLst/>
          </a:prstGeom>
          <a:noFill/>
        </p:spPr>
        <p:txBody>
          <a:bodyPr wrap="square" anchor="t" lIns="50800" rIns="50800" tIns="25400" bIns="25400">
            <a:spAutoFit/>
          </a:bodyPr>
          <a:lstStyle/>
          <a:p>
            <a:pPr algn="l"/>
            <a:r>
              <a:rPr sz="1250" b="0" i="0">
                <a:solidFill>
                  <a:srgbClr val="D8E8EE"/>
                </a:solidFill>
                <a:latin typeface="Inter"/>
              </a:rPr>
              <a:t>•  Hachage adaptatif</a:t>
            </a:r>
          </a:p>
          <a:p>
            <a:pPr algn="l"/>
            <a:r>
              <a:rPr sz="1250" b="0" i="0">
                <a:solidFill>
                  <a:srgbClr val="D8E8EE"/>
                </a:solidFill>
                <a:latin typeface="Inter"/>
              </a:rPr>
              <a:t>•  Sel aléatoire par mdp</a:t>
            </a:r>
          </a:p>
          <a:p>
            <a:pPr algn="l"/>
            <a:r>
              <a:rPr sz="1250" b="0" i="0">
                <a:solidFill>
                  <a:srgbClr val="D8E8EE"/>
                </a:solidFill>
                <a:latin typeface="Inter"/>
              </a:rPr>
              <a:t>•  2 mots de passe égaux</a:t>
            </a:r>
          </a:p>
          <a:p>
            <a:pPr algn="l"/>
            <a:r>
              <a:rPr sz="1250" b="0" i="0">
                <a:solidFill>
                  <a:srgbClr val="D8E8EE"/>
                </a:solidFill>
                <a:latin typeface="Inter"/>
              </a:rPr>
              <a:t>•  → empreintes différentes</a:t>
            </a:r>
          </a:p>
          <a:p>
            <a:pPr algn="l"/>
            <a:r>
              <a:rPr sz="1250" b="0" i="0">
                <a:solidFill>
                  <a:srgbClr val="D8E8EE"/>
                </a:solidFill>
                <a:latin typeface="Inter"/>
              </a:rPr>
              <a:t>•  Anti rainbow-table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3D6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365760"/>
          </a:xfrm>
          <a:prstGeom prst="rect">
            <a:avLst/>
          </a:prstGeom>
          <a:noFill/>
        </p:spPr>
        <p:txBody>
          <a:bodyPr wrap="square" anchor="t" lIns="50800" rIns="50800" tIns="25400" bIns="25400">
            <a:spAutoFit/>
          </a:bodyPr>
          <a:lstStyle/>
          <a:p>
            <a:pPr algn="l"/>
            <a:r>
              <a:rPr sz="1300" b="1" i="0">
                <a:solidFill>
                  <a:srgbClr val="E63946"/>
                </a:solidFill>
                <a:latin typeface="Montserrat"/>
              </a:rPr>
              <a:t>5 · LA SÉCURITÉ · POINT FORT TECHNIQUE</a:t>
            </a:r>
          </a:p>
        </p:txBody>
      </p:sp>
      <p:sp>
        <p:nvSpPr>
          <p:cNvPr id="4" name="TextBox 3"/>
          <p:cNvSpPr txBox="1"/>
          <p:nvPr/>
        </p:nvSpPr>
        <p:spPr>
          <a:xfrm>
            <a:off x="548640" y="713232"/>
            <a:ext cx="11247120" cy="731520"/>
          </a:xfrm>
          <a:prstGeom prst="rect">
            <a:avLst/>
          </a:prstGeom>
          <a:noFill/>
        </p:spPr>
        <p:txBody>
          <a:bodyPr wrap="square" anchor="t" lIns="50800" rIns="50800" tIns="25400" bIns="25400">
            <a:spAutoFit/>
          </a:bodyPr>
          <a:lstStyle/>
          <a:p>
            <a:pPr algn="l"/>
            <a:r>
              <a:rPr sz="2800" b="1" i="0">
                <a:solidFill>
                  <a:srgbClr val="FFFFFF"/>
                </a:solidFill>
                <a:latin typeface="Montserrat"/>
              </a:rPr>
              <a:t>Vote électronique : 4 garanties, 5 mécanismes</a:t>
            </a:r>
          </a:p>
        </p:txBody>
      </p:sp>
      <p:sp>
        <p:nvSpPr>
          <p:cNvPr id="5" name="Rounded Rectangle 4"/>
          <p:cNvSpPr/>
          <p:nvPr/>
        </p:nvSpPr>
        <p:spPr>
          <a:xfrm>
            <a:off x="548640" y="1783080"/>
            <a:ext cx="2011680" cy="1051560"/>
          </a:xfrm>
          <a:prstGeom prst="roundRect">
            <a:avLst>
              <a:gd name="adj" fmla="val 10000"/>
            </a:avLst>
          </a:prstGeom>
          <a:solidFill>
            <a:srgbClr val="0E4F7C"/>
          </a:solidFill>
          <a:ln w="1905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2011680" cy="1051560"/>
          </a:xfrm>
          <a:prstGeom prst="rect">
            <a:avLst/>
          </a:prstGeom>
          <a:noFill/>
        </p:spPr>
        <p:txBody>
          <a:bodyPr wrap="square" anchor="ctr" lIns="50800" rIns="50800" tIns="25400" bIns="25400">
            <a:spAutoFit/>
          </a:bodyPr>
          <a:lstStyle/>
          <a:p>
            <a:pPr algn="ctr"/>
            <a:r>
              <a:rPr sz="1200" b="1" i="0">
                <a:solidFill>
                  <a:srgbClr val="FFFFFF"/>
                </a:solidFill>
                <a:latin typeface="Montserrat"/>
              </a:rPr>
              <a:t>Vote</a:t>
            </a:r>
          </a:p>
        </p:txBody>
      </p:sp>
      <p:sp>
        <p:nvSpPr>
          <p:cNvPr id="7" name="Chevron 6"/>
          <p:cNvSpPr/>
          <p:nvPr/>
        </p:nvSpPr>
        <p:spPr>
          <a:xfrm>
            <a:off x="2560320" y="2148840"/>
            <a:ext cx="228600" cy="320040"/>
          </a:xfrm>
          <a:prstGeom prst="chevron">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88920" y="1783080"/>
            <a:ext cx="2011680" cy="1051560"/>
          </a:xfrm>
          <a:prstGeom prst="roundRect">
            <a:avLst>
              <a:gd name="adj" fmla="val 10000"/>
            </a:avLst>
          </a:prstGeom>
          <a:solidFill>
            <a:srgbClr val="0E4F7C"/>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783080"/>
            <a:ext cx="2011680" cy="1051560"/>
          </a:xfrm>
          <a:prstGeom prst="rect">
            <a:avLst/>
          </a:prstGeom>
          <a:noFill/>
        </p:spPr>
        <p:txBody>
          <a:bodyPr wrap="square" anchor="ctr" lIns="50800" rIns="50800" tIns="25400" bIns="25400">
            <a:spAutoFit/>
          </a:bodyPr>
          <a:lstStyle/>
          <a:p>
            <a:pPr algn="ctr"/>
            <a:r>
              <a:rPr sz="1200" b="1" i="0">
                <a:solidFill>
                  <a:srgbClr val="FFFFFF"/>
                </a:solidFill>
                <a:latin typeface="Montserrat"/>
              </a:rPr>
              <a:t>Chiffrement</a:t>
            </a:r>
          </a:p>
          <a:p>
            <a:pPr algn="ctr"/>
            <a:r>
              <a:rPr sz="1200" b="1" i="0">
                <a:solidFill>
                  <a:srgbClr val="FFFFFF"/>
                </a:solidFill>
                <a:latin typeface="Montserrat"/>
              </a:rPr>
              <a:t>AES-256-GCM</a:t>
            </a:r>
          </a:p>
        </p:txBody>
      </p:sp>
      <p:sp>
        <p:nvSpPr>
          <p:cNvPr id="10" name="Chevron 9"/>
          <p:cNvSpPr/>
          <p:nvPr/>
        </p:nvSpPr>
        <p:spPr>
          <a:xfrm>
            <a:off x="4800600" y="2148840"/>
            <a:ext cx="228600" cy="320040"/>
          </a:xfrm>
          <a:prstGeom prst="chevron">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0" y="1783080"/>
            <a:ext cx="2011680" cy="1051560"/>
          </a:xfrm>
          <a:prstGeom prst="roundRect">
            <a:avLst>
              <a:gd name="adj" fmla="val 10000"/>
            </a:avLst>
          </a:prstGeom>
          <a:solidFill>
            <a:srgbClr val="0E4F7C"/>
          </a:solidFill>
          <a:ln w="19050">
            <a:solidFill>
              <a:srgbClr val="E8B0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1783080"/>
            <a:ext cx="2011680" cy="1051560"/>
          </a:xfrm>
          <a:prstGeom prst="rect">
            <a:avLst/>
          </a:prstGeom>
          <a:noFill/>
        </p:spPr>
        <p:txBody>
          <a:bodyPr wrap="square" anchor="ctr" lIns="50800" rIns="50800" tIns="25400" bIns="25400">
            <a:spAutoFit/>
          </a:bodyPr>
          <a:lstStyle/>
          <a:p>
            <a:pPr algn="ctr"/>
            <a:r>
              <a:rPr sz="1200" b="1" i="0">
                <a:solidFill>
                  <a:srgbClr val="FFFFFF"/>
                </a:solidFill>
                <a:latin typeface="Montserrat"/>
              </a:rPr>
              <a:t>Clé scellée</a:t>
            </a:r>
          </a:p>
          <a:p>
            <a:pPr algn="ctr"/>
            <a:r>
              <a:rPr sz="1200" b="1" i="0">
                <a:solidFill>
                  <a:srgbClr val="FFFFFF"/>
                </a:solidFill>
                <a:latin typeface="Montserrat"/>
              </a:rPr>
              <a:t>RSA-2048-OAEP</a:t>
            </a:r>
          </a:p>
        </p:txBody>
      </p:sp>
      <p:sp>
        <p:nvSpPr>
          <p:cNvPr id="13" name="Chevron 12"/>
          <p:cNvSpPr/>
          <p:nvPr/>
        </p:nvSpPr>
        <p:spPr>
          <a:xfrm>
            <a:off x="7040880" y="2148840"/>
            <a:ext cx="228600" cy="320040"/>
          </a:xfrm>
          <a:prstGeom prst="chevron">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269480" y="1783080"/>
            <a:ext cx="2011680" cy="1051560"/>
          </a:xfrm>
          <a:prstGeom prst="roundRect">
            <a:avLst>
              <a:gd name="adj" fmla="val 10000"/>
            </a:avLst>
          </a:prstGeom>
          <a:solidFill>
            <a:srgbClr val="0E4F7C"/>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783080"/>
            <a:ext cx="2011680" cy="1051560"/>
          </a:xfrm>
          <a:prstGeom prst="rect">
            <a:avLst/>
          </a:prstGeom>
          <a:noFill/>
        </p:spPr>
        <p:txBody>
          <a:bodyPr wrap="square" anchor="ctr" lIns="50800" rIns="50800" tIns="25400" bIns="25400">
            <a:spAutoFit/>
          </a:bodyPr>
          <a:lstStyle/>
          <a:p>
            <a:pPr algn="ctr"/>
            <a:r>
              <a:rPr sz="1200" b="1" i="0">
                <a:solidFill>
                  <a:srgbClr val="FFFFFF"/>
                </a:solidFill>
                <a:latin typeface="Montserrat"/>
              </a:rPr>
              <a:t>Hash</a:t>
            </a:r>
          </a:p>
          <a:p>
            <a:pPr algn="ctr"/>
            <a:r>
              <a:rPr sz="1200" b="1" i="0">
                <a:solidFill>
                  <a:srgbClr val="FFFFFF"/>
                </a:solidFill>
                <a:latin typeface="Montserrat"/>
              </a:rPr>
              <a:t>SHA-256</a:t>
            </a:r>
          </a:p>
        </p:txBody>
      </p:sp>
      <p:sp>
        <p:nvSpPr>
          <p:cNvPr id="16" name="Chevron 15"/>
          <p:cNvSpPr/>
          <p:nvPr/>
        </p:nvSpPr>
        <p:spPr>
          <a:xfrm>
            <a:off x="9281160" y="2148840"/>
            <a:ext cx="228600" cy="320040"/>
          </a:xfrm>
          <a:prstGeom prst="chevron">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509760" y="1783080"/>
            <a:ext cx="2011680" cy="1051560"/>
          </a:xfrm>
          <a:prstGeom prst="roundRect">
            <a:avLst>
              <a:gd name="adj" fmla="val 10000"/>
            </a:avLst>
          </a:prstGeom>
          <a:solidFill>
            <a:srgbClr val="0E4F7C"/>
          </a:solidFill>
          <a:ln w="1905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0" y="1783080"/>
            <a:ext cx="2011680" cy="1051560"/>
          </a:xfrm>
          <a:prstGeom prst="rect">
            <a:avLst/>
          </a:prstGeom>
          <a:noFill/>
        </p:spPr>
        <p:txBody>
          <a:bodyPr wrap="square" anchor="ctr" lIns="50800" rIns="50800" tIns="25400" bIns="25400">
            <a:spAutoFit/>
          </a:bodyPr>
          <a:lstStyle/>
          <a:p>
            <a:pPr algn="ctr"/>
            <a:r>
              <a:rPr sz="1200" b="1" i="0">
                <a:solidFill>
                  <a:srgbClr val="FFFFFF"/>
                </a:solidFill>
                <a:latin typeface="Montserrat"/>
              </a:rPr>
              <a:t>Signature</a:t>
            </a:r>
          </a:p>
          <a:p>
            <a:pPr algn="ctr"/>
            <a:r>
              <a:rPr sz="1200" b="1" i="0">
                <a:solidFill>
                  <a:srgbClr val="FFFFFF"/>
                </a:solidFill>
                <a:latin typeface="Montserrat"/>
              </a:rPr>
              <a:t>Ed25519</a:t>
            </a:r>
          </a:p>
        </p:txBody>
      </p:sp>
      <p:sp>
        <p:nvSpPr>
          <p:cNvPr id="19" name="TextBox 18"/>
          <p:cNvSpPr txBox="1"/>
          <p:nvPr/>
        </p:nvSpPr>
        <p:spPr>
          <a:xfrm>
            <a:off x="548640" y="2971800"/>
            <a:ext cx="10972800" cy="320040"/>
          </a:xfrm>
          <a:prstGeom prst="rect">
            <a:avLst/>
          </a:prstGeom>
          <a:noFill/>
        </p:spPr>
        <p:txBody>
          <a:bodyPr wrap="square" anchor="t" lIns="50800" rIns="50800" tIns="25400" bIns="25400">
            <a:spAutoFit/>
          </a:bodyPr>
          <a:lstStyle/>
          <a:p>
            <a:pPr algn="l"/>
            <a:r>
              <a:rPr sz="1250" b="0" i="1">
                <a:solidFill>
                  <a:srgbClr val="E8B04B"/>
                </a:solidFill>
                <a:latin typeface="Inter"/>
              </a:rPr>
              <a:t>Clé privée RSA verrouillée pendant le scrutin → déverrouillée au dépouillement seulement</a:t>
            </a:r>
          </a:p>
        </p:txBody>
      </p:sp>
      <p:sp>
        <p:nvSpPr>
          <p:cNvPr id="20" name="Rounded Rectangle 19"/>
          <p:cNvSpPr/>
          <p:nvPr/>
        </p:nvSpPr>
        <p:spPr>
          <a:xfrm>
            <a:off x="548640" y="3429000"/>
            <a:ext cx="3931920" cy="512064"/>
          </a:xfrm>
          <a:prstGeom prst="roundRect">
            <a:avLst>
              <a:gd name="adj" fmla="val 15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429000"/>
            <a:ext cx="3749039" cy="512064"/>
          </a:xfrm>
          <a:prstGeom prst="rect">
            <a:avLst/>
          </a:prstGeom>
          <a:noFill/>
        </p:spPr>
        <p:txBody>
          <a:bodyPr wrap="square" anchor="ctr" lIns="50800" rIns="50800" tIns="25400" bIns="25400">
            <a:spAutoFit/>
          </a:bodyPr>
          <a:lstStyle/>
          <a:p>
            <a:pPr algn="l"/>
            <a:r>
              <a:rPr sz="1200" b="1" i="0">
                <a:solidFill>
                  <a:srgbClr val="FFFFFF"/>
                </a:solidFill>
                <a:latin typeface="Montserrat"/>
              </a:rPr>
              <a:t>Anonymat de l'électeur</a:t>
            </a:r>
          </a:p>
        </p:txBody>
      </p:sp>
      <p:sp>
        <p:nvSpPr>
          <p:cNvPr id="22" name="Rounded Rectangle 21"/>
          <p:cNvSpPr/>
          <p:nvPr/>
        </p:nvSpPr>
        <p:spPr>
          <a:xfrm>
            <a:off x="4572000" y="3429000"/>
            <a:ext cx="6949440" cy="5120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3429000"/>
            <a:ext cx="6675120" cy="512064"/>
          </a:xfrm>
          <a:prstGeom prst="rect">
            <a:avLst/>
          </a:prstGeom>
          <a:noFill/>
        </p:spPr>
        <p:txBody>
          <a:bodyPr wrap="square" anchor="ctr" lIns="50800" rIns="50800" tIns="25400" bIns="25400">
            <a:spAutoFit/>
          </a:bodyPr>
          <a:lstStyle/>
          <a:p>
            <a:pPr algn="l"/>
            <a:r>
              <a:rPr sz="1150" b="0" i="0">
                <a:solidFill>
                  <a:srgbClr val="2D3748"/>
                </a:solidFill>
                <a:latin typeface="Consolas"/>
              </a:rPr>
              <a:t>HMAC-SHA256 → Voter Token (secret+electionId+médecinId)</a:t>
            </a:r>
          </a:p>
        </p:txBody>
      </p:sp>
      <p:sp>
        <p:nvSpPr>
          <p:cNvPr id="24" name="Rounded Rectangle 23"/>
          <p:cNvSpPr/>
          <p:nvPr/>
        </p:nvSpPr>
        <p:spPr>
          <a:xfrm>
            <a:off x="548640" y="4032504"/>
            <a:ext cx="3931920" cy="512064"/>
          </a:xfrm>
          <a:prstGeom prst="roundRect">
            <a:avLst>
              <a:gd name="adj" fmla="val 15000"/>
            </a:avLst>
          </a:prstGeom>
          <a:solidFill>
            <a:srgbClr val="12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032504"/>
            <a:ext cx="3749039" cy="512064"/>
          </a:xfrm>
          <a:prstGeom prst="rect">
            <a:avLst/>
          </a:prstGeom>
          <a:noFill/>
        </p:spPr>
        <p:txBody>
          <a:bodyPr wrap="square" anchor="ctr" lIns="50800" rIns="50800" tIns="25400" bIns="25400">
            <a:spAutoFit/>
          </a:bodyPr>
          <a:lstStyle/>
          <a:p>
            <a:pPr algn="l"/>
            <a:r>
              <a:rPr sz="1200" b="1" i="0">
                <a:solidFill>
                  <a:srgbClr val="FFFFFF"/>
                </a:solidFill>
                <a:latin typeface="Montserrat"/>
              </a:rPr>
              <a:t>Confidentialité du bulletin</a:t>
            </a:r>
          </a:p>
        </p:txBody>
      </p:sp>
      <p:sp>
        <p:nvSpPr>
          <p:cNvPr id="26" name="Rounded Rectangle 25"/>
          <p:cNvSpPr/>
          <p:nvPr/>
        </p:nvSpPr>
        <p:spPr>
          <a:xfrm>
            <a:off x="4572000" y="4032504"/>
            <a:ext cx="6949440" cy="5120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4032504"/>
            <a:ext cx="6675120" cy="512064"/>
          </a:xfrm>
          <a:prstGeom prst="rect">
            <a:avLst/>
          </a:prstGeom>
          <a:noFill/>
        </p:spPr>
        <p:txBody>
          <a:bodyPr wrap="square" anchor="ctr" lIns="50800" rIns="50800" tIns="25400" bIns="25400">
            <a:spAutoFit/>
          </a:bodyPr>
          <a:lstStyle/>
          <a:p>
            <a:pPr algn="l"/>
            <a:r>
              <a:rPr sz="1150" b="0" i="0">
                <a:solidFill>
                  <a:srgbClr val="2D3748"/>
                </a:solidFill>
                <a:latin typeface="Consolas"/>
              </a:rPr>
              <a:t>AES-256-GCM, clé (DEK) aléatoire par bulletin</a:t>
            </a:r>
          </a:p>
        </p:txBody>
      </p:sp>
      <p:sp>
        <p:nvSpPr>
          <p:cNvPr id="28" name="Rounded Rectangle 27"/>
          <p:cNvSpPr/>
          <p:nvPr/>
        </p:nvSpPr>
        <p:spPr>
          <a:xfrm>
            <a:off x="548640" y="4636008"/>
            <a:ext cx="3931920" cy="512064"/>
          </a:xfrm>
          <a:prstGeom prst="roundRect">
            <a:avLst>
              <a:gd name="adj" fmla="val 15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636008"/>
            <a:ext cx="3749039" cy="512064"/>
          </a:xfrm>
          <a:prstGeom prst="rect">
            <a:avLst/>
          </a:prstGeom>
          <a:noFill/>
        </p:spPr>
        <p:txBody>
          <a:bodyPr wrap="square" anchor="ctr" lIns="50800" rIns="50800" tIns="25400" bIns="25400">
            <a:spAutoFit/>
          </a:bodyPr>
          <a:lstStyle/>
          <a:p>
            <a:pPr algn="l"/>
            <a:r>
              <a:rPr sz="1200" b="1" i="0">
                <a:solidFill>
                  <a:srgbClr val="FFFFFF"/>
                </a:solidFill>
                <a:latin typeface="Montserrat"/>
              </a:rPr>
              <a:t>Protection de la clé</a:t>
            </a:r>
          </a:p>
        </p:txBody>
      </p:sp>
      <p:sp>
        <p:nvSpPr>
          <p:cNvPr id="30" name="Rounded Rectangle 29"/>
          <p:cNvSpPr/>
          <p:nvPr/>
        </p:nvSpPr>
        <p:spPr>
          <a:xfrm>
            <a:off x="4572000" y="4636008"/>
            <a:ext cx="6949440" cy="5120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4636008"/>
            <a:ext cx="6675120" cy="512064"/>
          </a:xfrm>
          <a:prstGeom prst="rect">
            <a:avLst/>
          </a:prstGeom>
          <a:noFill/>
        </p:spPr>
        <p:txBody>
          <a:bodyPr wrap="square" anchor="ctr" lIns="50800" rIns="50800" tIns="25400" bIns="25400">
            <a:spAutoFit/>
          </a:bodyPr>
          <a:lstStyle/>
          <a:p>
            <a:pPr algn="l"/>
            <a:r>
              <a:rPr sz="1150" b="0" i="0">
                <a:solidFill>
                  <a:srgbClr val="2D3748"/>
                </a:solidFill>
                <a:latin typeface="Consolas"/>
              </a:rPr>
              <a:t>RSA-2048-OAEP : clé privée inaccessible pendant le vote</a:t>
            </a:r>
          </a:p>
        </p:txBody>
      </p:sp>
      <p:sp>
        <p:nvSpPr>
          <p:cNvPr id="32" name="Rounded Rectangle 31"/>
          <p:cNvSpPr/>
          <p:nvPr/>
        </p:nvSpPr>
        <p:spPr>
          <a:xfrm>
            <a:off x="548640" y="5239512"/>
            <a:ext cx="3931920" cy="512064"/>
          </a:xfrm>
          <a:prstGeom prst="roundRect">
            <a:avLst>
              <a:gd name="adj" fmla="val 15000"/>
            </a:avLst>
          </a:prstGeom>
          <a:solidFill>
            <a:srgbClr val="12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239512"/>
            <a:ext cx="3749039" cy="512064"/>
          </a:xfrm>
          <a:prstGeom prst="rect">
            <a:avLst/>
          </a:prstGeom>
          <a:noFill/>
        </p:spPr>
        <p:txBody>
          <a:bodyPr wrap="square" anchor="ctr" lIns="50800" rIns="50800" tIns="25400" bIns="25400">
            <a:spAutoFit/>
          </a:bodyPr>
          <a:lstStyle/>
          <a:p>
            <a:pPr algn="l"/>
            <a:r>
              <a:rPr sz="1200" b="1" i="0">
                <a:solidFill>
                  <a:srgbClr val="FFFFFF"/>
                </a:solidFill>
                <a:latin typeface="Montserrat"/>
              </a:rPr>
              <a:t>Intégrité des données</a:t>
            </a:r>
          </a:p>
        </p:txBody>
      </p:sp>
      <p:sp>
        <p:nvSpPr>
          <p:cNvPr id="34" name="Rounded Rectangle 33"/>
          <p:cNvSpPr/>
          <p:nvPr/>
        </p:nvSpPr>
        <p:spPr>
          <a:xfrm>
            <a:off x="4572000" y="5239512"/>
            <a:ext cx="6949440" cy="5120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5239512"/>
            <a:ext cx="6675120" cy="512064"/>
          </a:xfrm>
          <a:prstGeom prst="rect">
            <a:avLst/>
          </a:prstGeom>
          <a:noFill/>
        </p:spPr>
        <p:txBody>
          <a:bodyPr wrap="square" anchor="ctr" lIns="50800" rIns="50800" tIns="25400" bIns="25400">
            <a:spAutoFit/>
          </a:bodyPr>
          <a:lstStyle/>
          <a:p>
            <a:pPr algn="l"/>
            <a:r>
              <a:rPr sz="1150" b="0" i="0">
                <a:solidFill>
                  <a:srgbClr val="2D3748"/>
                </a:solidFill>
                <a:latin typeface="Consolas"/>
              </a:rPr>
              <a:t>SHA-256 Vote Hash (sur le bulletin déjà chiffré)</a:t>
            </a:r>
          </a:p>
        </p:txBody>
      </p:sp>
      <p:sp>
        <p:nvSpPr>
          <p:cNvPr id="36" name="Rounded Rectangle 35"/>
          <p:cNvSpPr/>
          <p:nvPr/>
        </p:nvSpPr>
        <p:spPr>
          <a:xfrm>
            <a:off x="548640" y="5843016"/>
            <a:ext cx="3931920" cy="512064"/>
          </a:xfrm>
          <a:prstGeom prst="roundRect">
            <a:avLst>
              <a:gd name="adj" fmla="val 15000"/>
            </a:avLst>
          </a:prstGeom>
          <a:solidFill>
            <a:srgbClr val="12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843016"/>
            <a:ext cx="3749039" cy="512064"/>
          </a:xfrm>
          <a:prstGeom prst="rect">
            <a:avLst/>
          </a:prstGeom>
          <a:noFill/>
        </p:spPr>
        <p:txBody>
          <a:bodyPr wrap="square" anchor="ctr" lIns="50800" rIns="50800" tIns="25400" bIns="25400">
            <a:spAutoFit/>
          </a:bodyPr>
          <a:lstStyle/>
          <a:p>
            <a:pPr algn="l"/>
            <a:r>
              <a:rPr sz="1200" b="1" i="0">
                <a:solidFill>
                  <a:srgbClr val="FFFFFF"/>
                </a:solidFill>
                <a:latin typeface="Montserrat"/>
              </a:rPr>
              <a:t>Authenticité des résultats</a:t>
            </a:r>
          </a:p>
        </p:txBody>
      </p:sp>
      <p:sp>
        <p:nvSpPr>
          <p:cNvPr id="38" name="Rounded Rectangle 37"/>
          <p:cNvSpPr/>
          <p:nvPr/>
        </p:nvSpPr>
        <p:spPr>
          <a:xfrm>
            <a:off x="4572000" y="5843016"/>
            <a:ext cx="6949440" cy="512064"/>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0" y="5843016"/>
            <a:ext cx="6675120" cy="512064"/>
          </a:xfrm>
          <a:prstGeom prst="rect">
            <a:avLst/>
          </a:prstGeom>
          <a:noFill/>
        </p:spPr>
        <p:txBody>
          <a:bodyPr wrap="square" anchor="ctr" lIns="50800" rIns="50800" tIns="25400" bIns="25400">
            <a:spAutoFit/>
          </a:bodyPr>
          <a:lstStyle/>
          <a:p>
            <a:pPr algn="l"/>
            <a:r>
              <a:rPr sz="1150" b="0" i="0">
                <a:solidFill>
                  <a:srgbClr val="2D3748"/>
                </a:solidFill>
                <a:latin typeface="Consolas"/>
              </a:rPr>
              <a:t>Signature Ed25519 du serveur sur chaque bulletin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2EC4B6"/>
                </a:solidFill>
                <a:latin typeface="Montserrat"/>
              </a:rPr>
              <a:t>3 · LA SOLUTION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La plateforme en action</a:t>
            </a:r>
          </a:p>
        </p:txBody>
      </p:sp>
      <p:sp>
        <p:nvSpPr>
          <p:cNvPr id="5" name="Rectangle 4"/>
          <p:cNvSpPr/>
          <p:nvPr/>
        </p:nvSpPr>
        <p:spPr>
          <a:xfrm>
            <a:off x="566928" y="1572768"/>
            <a:ext cx="1463040" cy="4572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20240"/>
            <a:ext cx="3520440" cy="1920240"/>
          </a:xfrm>
          <a:prstGeom prst="roundRect">
            <a:avLst>
              <a:gd name="adj" fmla="val 5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057400"/>
            <a:ext cx="3246120" cy="1143000"/>
          </a:xfrm>
          <a:prstGeom prst="roundRect">
            <a:avLst>
              <a:gd name="adj" fmla="val 4000"/>
            </a:avLst>
          </a:prstGeom>
          <a:solidFill>
            <a:srgbClr val="FFFFFF"/>
          </a:solidFill>
          <a:ln w="1524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57400"/>
            <a:ext cx="3246120" cy="1143000"/>
          </a:xfrm>
          <a:prstGeom prst="rect">
            <a:avLst/>
          </a:prstGeom>
          <a:noFill/>
        </p:spPr>
        <p:txBody>
          <a:bodyPr wrap="square" anchor="ctr" lIns="50800" rIns="50800" tIns="25400" bIns="25400">
            <a:spAutoFit/>
          </a:bodyPr>
          <a:lstStyle/>
          <a:p>
            <a:pPr algn="ctr"/>
            <a:r>
              <a:rPr sz="1100" b="0" i="1">
                <a:solidFill>
                  <a:srgbClr val="718096"/>
                </a:solidFill>
                <a:latin typeface="Inter"/>
              </a:rPr>
              <a:t>[ capture d'écran ]</a:t>
            </a:r>
          </a:p>
        </p:txBody>
      </p:sp>
      <p:sp>
        <p:nvSpPr>
          <p:cNvPr id="9" name="TextBox 8"/>
          <p:cNvSpPr txBox="1"/>
          <p:nvPr/>
        </p:nvSpPr>
        <p:spPr>
          <a:xfrm>
            <a:off x="868680" y="3291840"/>
            <a:ext cx="3108960" cy="320040"/>
          </a:xfrm>
          <a:prstGeom prst="rect">
            <a:avLst/>
          </a:prstGeom>
          <a:noFill/>
        </p:spPr>
        <p:txBody>
          <a:bodyPr wrap="square" anchor="t" lIns="50800" rIns="50800" tIns="25400" bIns="25400">
            <a:spAutoFit/>
          </a:bodyPr>
          <a:lstStyle/>
          <a:p>
            <a:pPr algn="l"/>
            <a:r>
              <a:rPr sz="1350" b="1" i="0">
                <a:solidFill>
                  <a:srgbClr val="1B9AAA"/>
                </a:solidFill>
                <a:latin typeface="Montserrat"/>
              </a:rPr>
              <a:t>Portail public</a:t>
            </a:r>
          </a:p>
        </p:txBody>
      </p:sp>
      <p:sp>
        <p:nvSpPr>
          <p:cNvPr id="10" name="TextBox 9"/>
          <p:cNvSpPr txBox="1"/>
          <p:nvPr/>
        </p:nvSpPr>
        <p:spPr>
          <a:xfrm>
            <a:off x="868680" y="3584448"/>
            <a:ext cx="3108960" cy="274320"/>
          </a:xfrm>
          <a:prstGeom prst="rect">
            <a:avLst/>
          </a:prstGeom>
          <a:noFill/>
        </p:spPr>
        <p:txBody>
          <a:bodyPr wrap="square" anchor="t" lIns="50800" rIns="50800" tIns="25400" bIns="25400">
            <a:spAutoFit/>
          </a:bodyPr>
          <a:lstStyle/>
          <a:p>
            <a:pPr algn="l"/>
            <a:r>
              <a:rPr sz="1050" b="0" i="0">
                <a:solidFill>
                  <a:srgbClr val="2D3748"/>
                </a:solidFill>
                <a:latin typeface="Inter"/>
              </a:rPr>
              <a:t>Accueil + annuaire des médecins</a:t>
            </a:r>
          </a:p>
        </p:txBody>
      </p:sp>
      <p:sp>
        <p:nvSpPr>
          <p:cNvPr id="11" name="Rounded Rectangle 10"/>
          <p:cNvSpPr/>
          <p:nvPr/>
        </p:nvSpPr>
        <p:spPr>
          <a:xfrm>
            <a:off x="4343400" y="1920240"/>
            <a:ext cx="3520440" cy="1920240"/>
          </a:xfrm>
          <a:prstGeom prst="roundRect">
            <a:avLst>
              <a:gd name="adj" fmla="val 5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60" y="2057400"/>
            <a:ext cx="3246120" cy="1143000"/>
          </a:xfrm>
          <a:prstGeom prst="roundRect">
            <a:avLst>
              <a:gd name="adj" fmla="val 4000"/>
            </a:avLst>
          </a:prstGeom>
          <a:solidFill>
            <a:srgbClr val="FFFFFF"/>
          </a:solidFill>
          <a:ln w="1524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057400"/>
            <a:ext cx="3246120" cy="1143000"/>
          </a:xfrm>
          <a:prstGeom prst="rect">
            <a:avLst/>
          </a:prstGeom>
          <a:noFill/>
        </p:spPr>
        <p:txBody>
          <a:bodyPr wrap="square" anchor="ctr" lIns="50800" rIns="50800" tIns="25400" bIns="25400">
            <a:spAutoFit/>
          </a:bodyPr>
          <a:lstStyle/>
          <a:p>
            <a:pPr algn="ctr"/>
            <a:r>
              <a:rPr sz="1100" b="0" i="1">
                <a:solidFill>
                  <a:srgbClr val="718096"/>
                </a:solidFill>
                <a:latin typeface="Inter"/>
              </a:rPr>
              <a:t>[ capture d'écran ]</a:t>
            </a:r>
          </a:p>
        </p:txBody>
      </p:sp>
      <p:sp>
        <p:nvSpPr>
          <p:cNvPr id="14" name="TextBox 13"/>
          <p:cNvSpPr txBox="1"/>
          <p:nvPr/>
        </p:nvSpPr>
        <p:spPr>
          <a:xfrm>
            <a:off x="4572000" y="3291840"/>
            <a:ext cx="3108960" cy="320040"/>
          </a:xfrm>
          <a:prstGeom prst="rect">
            <a:avLst/>
          </a:prstGeom>
          <a:noFill/>
        </p:spPr>
        <p:txBody>
          <a:bodyPr wrap="square" anchor="t" lIns="50800" rIns="50800" tIns="25400" bIns="25400">
            <a:spAutoFit/>
          </a:bodyPr>
          <a:lstStyle/>
          <a:p>
            <a:pPr algn="l"/>
            <a:r>
              <a:rPr sz="1350" b="1" i="0">
                <a:solidFill>
                  <a:srgbClr val="2EC4B6"/>
                </a:solidFill>
                <a:latin typeface="Montserrat"/>
              </a:rPr>
              <a:t>Adhésion en ligne</a:t>
            </a:r>
          </a:p>
        </p:txBody>
      </p:sp>
      <p:sp>
        <p:nvSpPr>
          <p:cNvPr id="15" name="TextBox 14"/>
          <p:cNvSpPr txBox="1"/>
          <p:nvPr/>
        </p:nvSpPr>
        <p:spPr>
          <a:xfrm>
            <a:off x="4572000" y="3584448"/>
            <a:ext cx="3108960" cy="274320"/>
          </a:xfrm>
          <a:prstGeom prst="rect">
            <a:avLst/>
          </a:prstGeom>
          <a:noFill/>
        </p:spPr>
        <p:txBody>
          <a:bodyPr wrap="square" anchor="t" lIns="50800" rIns="50800" tIns="25400" bIns="25400">
            <a:spAutoFit/>
          </a:bodyPr>
          <a:lstStyle/>
          <a:p>
            <a:pPr algn="l"/>
            <a:r>
              <a:rPr sz="1050" b="0" i="0">
                <a:solidFill>
                  <a:srgbClr val="2D3748"/>
                </a:solidFill>
                <a:latin typeface="Inter"/>
              </a:rPr>
              <a:t>Formulaire multi-étapes guidé</a:t>
            </a:r>
          </a:p>
        </p:txBody>
      </p:sp>
      <p:sp>
        <p:nvSpPr>
          <p:cNvPr id="16" name="Rounded Rectangle 15"/>
          <p:cNvSpPr/>
          <p:nvPr/>
        </p:nvSpPr>
        <p:spPr>
          <a:xfrm>
            <a:off x="8046719" y="1920240"/>
            <a:ext cx="3520440" cy="1920240"/>
          </a:xfrm>
          <a:prstGeom prst="roundRect">
            <a:avLst>
              <a:gd name="adj" fmla="val 5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3879" y="2057400"/>
            <a:ext cx="3246120" cy="1143000"/>
          </a:xfrm>
          <a:prstGeom prst="roundRect">
            <a:avLst>
              <a:gd name="adj" fmla="val 4000"/>
            </a:avLst>
          </a:prstGeom>
          <a:solidFill>
            <a:srgbClr val="FFFFFF"/>
          </a:solidFill>
          <a:ln w="15240">
            <a:solidFill>
              <a:srgbClr val="2EC4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2057400"/>
            <a:ext cx="3246120" cy="1143000"/>
          </a:xfrm>
          <a:prstGeom prst="rect">
            <a:avLst/>
          </a:prstGeom>
          <a:noFill/>
        </p:spPr>
        <p:txBody>
          <a:bodyPr wrap="square" anchor="ctr" lIns="50800" rIns="50800" tIns="25400" bIns="25400">
            <a:spAutoFit/>
          </a:bodyPr>
          <a:lstStyle/>
          <a:p>
            <a:pPr algn="ctr"/>
            <a:r>
              <a:rPr sz="1100" b="0" i="1">
                <a:solidFill>
                  <a:srgbClr val="718096"/>
                </a:solidFill>
                <a:latin typeface="Inter"/>
              </a:rPr>
              <a:t>[ capture d'écran ]</a:t>
            </a:r>
          </a:p>
        </p:txBody>
      </p:sp>
      <p:sp>
        <p:nvSpPr>
          <p:cNvPr id="19" name="TextBox 18"/>
          <p:cNvSpPr txBox="1"/>
          <p:nvPr/>
        </p:nvSpPr>
        <p:spPr>
          <a:xfrm>
            <a:off x="8275319" y="3291840"/>
            <a:ext cx="3108960" cy="320040"/>
          </a:xfrm>
          <a:prstGeom prst="rect">
            <a:avLst/>
          </a:prstGeom>
          <a:noFill/>
        </p:spPr>
        <p:txBody>
          <a:bodyPr wrap="square" anchor="t" lIns="50800" rIns="50800" tIns="25400" bIns="25400">
            <a:spAutoFit/>
          </a:bodyPr>
          <a:lstStyle/>
          <a:p>
            <a:pPr algn="l"/>
            <a:r>
              <a:rPr sz="1350" b="1" i="0">
                <a:solidFill>
                  <a:srgbClr val="2EC4B6"/>
                </a:solidFill>
                <a:latin typeface="Montserrat"/>
              </a:rPr>
              <a:t>Espace médecin</a:t>
            </a:r>
          </a:p>
        </p:txBody>
      </p:sp>
      <p:sp>
        <p:nvSpPr>
          <p:cNvPr id="20" name="TextBox 19"/>
          <p:cNvSpPr txBox="1"/>
          <p:nvPr/>
        </p:nvSpPr>
        <p:spPr>
          <a:xfrm>
            <a:off x="8275319" y="3584448"/>
            <a:ext cx="3108960" cy="274320"/>
          </a:xfrm>
          <a:prstGeom prst="rect">
            <a:avLst/>
          </a:prstGeom>
          <a:noFill/>
        </p:spPr>
        <p:txBody>
          <a:bodyPr wrap="square" anchor="t" lIns="50800" rIns="50800" tIns="25400" bIns="25400">
            <a:spAutoFit/>
          </a:bodyPr>
          <a:lstStyle/>
          <a:p>
            <a:pPr algn="l"/>
            <a:r>
              <a:rPr sz="1050" b="0" i="0">
                <a:solidFill>
                  <a:srgbClr val="2D3748"/>
                </a:solidFill>
                <a:latin typeface="Inter"/>
              </a:rPr>
              <a:t>Tableau de bord personnel</a:t>
            </a:r>
          </a:p>
        </p:txBody>
      </p:sp>
      <p:sp>
        <p:nvSpPr>
          <p:cNvPr id="21" name="Rounded Rectangle 20"/>
          <p:cNvSpPr/>
          <p:nvPr/>
        </p:nvSpPr>
        <p:spPr>
          <a:xfrm>
            <a:off x="640080" y="4069080"/>
            <a:ext cx="3520440" cy="1920240"/>
          </a:xfrm>
          <a:prstGeom prst="roundRect">
            <a:avLst>
              <a:gd name="adj" fmla="val 5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4206240"/>
            <a:ext cx="3246120" cy="1143000"/>
          </a:xfrm>
          <a:prstGeom prst="roundRect">
            <a:avLst>
              <a:gd name="adj" fmla="val 4000"/>
            </a:avLst>
          </a:prstGeom>
          <a:solidFill>
            <a:srgbClr val="FFFFFF"/>
          </a:solidFill>
          <a:ln w="15240">
            <a:solidFill>
              <a:srgbClr val="E639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06240"/>
            <a:ext cx="3246120" cy="1143000"/>
          </a:xfrm>
          <a:prstGeom prst="rect">
            <a:avLst/>
          </a:prstGeom>
          <a:noFill/>
        </p:spPr>
        <p:txBody>
          <a:bodyPr wrap="square" anchor="ctr" lIns="50800" rIns="50800" tIns="25400" bIns="25400">
            <a:spAutoFit/>
          </a:bodyPr>
          <a:lstStyle/>
          <a:p>
            <a:pPr algn="ctr"/>
            <a:r>
              <a:rPr sz="1100" b="0" i="1">
                <a:solidFill>
                  <a:srgbClr val="718096"/>
                </a:solidFill>
                <a:latin typeface="Inter"/>
              </a:rPr>
              <a:t>[ capture d'écran ]</a:t>
            </a:r>
          </a:p>
        </p:txBody>
      </p:sp>
      <p:sp>
        <p:nvSpPr>
          <p:cNvPr id="24" name="TextBox 23"/>
          <p:cNvSpPr txBox="1"/>
          <p:nvPr/>
        </p:nvSpPr>
        <p:spPr>
          <a:xfrm>
            <a:off x="868680" y="5440680"/>
            <a:ext cx="3108960" cy="320040"/>
          </a:xfrm>
          <a:prstGeom prst="rect">
            <a:avLst/>
          </a:prstGeom>
          <a:noFill/>
        </p:spPr>
        <p:txBody>
          <a:bodyPr wrap="square" anchor="t" lIns="50800" rIns="50800" tIns="25400" bIns="25400">
            <a:spAutoFit/>
          </a:bodyPr>
          <a:lstStyle/>
          <a:p>
            <a:pPr algn="l"/>
            <a:r>
              <a:rPr sz="1350" b="1" i="0">
                <a:solidFill>
                  <a:srgbClr val="E63946"/>
                </a:solidFill>
                <a:latin typeface="Montserrat"/>
              </a:rPr>
              <a:t>Vote &amp; résultats</a:t>
            </a:r>
          </a:p>
        </p:txBody>
      </p:sp>
      <p:sp>
        <p:nvSpPr>
          <p:cNvPr id="25" name="TextBox 24"/>
          <p:cNvSpPr txBox="1"/>
          <p:nvPr/>
        </p:nvSpPr>
        <p:spPr>
          <a:xfrm>
            <a:off x="868680" y="5733288"/>
            <a:ext cx="3108960" cy="274320"/>
          </a:xfrm>
          <a:prstGeom prst="rect">
            <a:avLst/>
          </a:prstGeom>
          <a:noFill/>
        </p:spPr>
        <p:txBody>
          <a:bodyPr wrap="square" anchor="t" lIns="50800" rIns="50800" tIns="25400" bIns="25400">
            <a:spAutoFit/>
          </a:bodyPr>
          <a:lstStyle/>
          <a:p>
            <a:pPr algn="l"/>
            <a:r>
              <a:rPr sz="1050" b="0" i="0">
                <a:solidFill>
                  <a:srgbClr val="2D3748"/>
                </a:solidFill>
                <a:latin typeface="Inter"/>
              </a:rPr>
              <a:t>Bulletin chiffré + dépouillement</a:t>
            </a:r>
          </a:p>
        </p:txBody>
      </p:sp>
      <p:sp>
        <p:nvSpPr>
          <p:cNvPr id="26" name="Rounded Rectangle 25"/>
          <p:cNvSpPr/>
          <p:nvPr/>
        </p:nvSpPr>
        <p:spPr>
          <a:xfrm>
            <a:off x="4343400" y="4069080"/>
            <a:ext cx="3520440" cy="1920240"/>
          </a:xfrm>
          <a:prstGeom prst="roundRect">
            <a:avLst>
              <a:gd name="adj" fmla="val 5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80560" y="4206240"/>
            <a:ext cx="3246120" cy="1143000"/>
          </a:xfrm>
          <a:prstGeom prst="roundRect">
            <a:avLst>
              <a:gd name="adj" fmla="val 4000"/>
            </a:avLst>
          </a:prstGeom>
          <a:solidFill>
            <a:srgbClr val="FFFFFF"/>
          </a:solidFill>
          <a:ln w="15240">
            <a:solidFill>
              <a:srgbClr val="0A3D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4206240"/>
            <a:ext cx="3246120" cy="1143000"/>
          </a:xfrm>
          <a:prstGeom prst="rect">
            <a:avLst/>
          </a:prstGeom>
          <a:noFill/>
        </p:spPr>
        <p:txBody>
          <a:bodyPr wrap="square" anchor="ctr" lIns="50800" rIns="50800" tIns="25400" bIns="25400">
            <a:spAutoFit/>
          </a:bodyPr>
          <a:lstStyle/>
          <a:p>
            <a:pPr algn="ctr"/>
            <a:r>
              <a:rPr sz="1100" b="0" i="1">
                <a:solidFill>
                  <a:srgbClr val="718096"/>
                </a:solidFill>
                <a:latin typeface="Inter"/>
              </a:rPr>
              <a:t>[ capture d'écran ]</a:t>
            </a:r>
          </a:p>
        </p:txBody>
      </p:sp>
      <p:sp>
        <p:nvSpPr>
          <p:cNvPr id="29" name="TextBox 28"/>
          <p:cNvSpPr txBox="1"/>
          <p:nvPr/>
        </p:nvSpPr>
        <p:spPr>
          <a:xfrm>
            <a:off x="4572000" y="5440680"/>
            <a:ext cx="3108960" cy="320040"/>
          </a:xfrm>
          <a:prstGeom prst="rect">
            <a:avLst/>
          </a:prstGeom>
          <a:noFill/>
        </p:spPr>
        <p:txBody>
          <a:bodyPr wrap="square" anchor="t" lIns="50800" rIns="50800" tIns="25400" bIns="25400">
            <a:spAutoFit/>
          </a:bodyPr>
          <a:lstStyle/>
          <a:p>
            <a:pPr algn="l"/>
            <a:r>
              <a:rPr sz="1350" b="1" i="0">
                <a:solidFill>
                  <a:srgbClr val="0A3D62"/>
                </a:solidFill>
                <a:latin typeface="Montserrat"/>
              </a:rPr>
              <a:t>Espace admin</a:t>
            </a:r>
          </a:p>
        </p:txBody>
      </p:sp>
      <p:sp>
        <p:nvSpPr>
          <p:cNvPr id="30" name="TextBox 29"/>
          <p:cNvSpPr txBox="1"/>
          <p:nvPr/>
        </p:nvSpPr>
        <p:spPr>
          <a:xfrm>
            <a:off x="4572000" y="5733288"/>
            <a:ext cx="3108960" cy="274320"/>
          </a:xfrm>
          <a:prstGeom prst="rect">
            <a:avLst/>
          </a:prstGeom>
          <a:noFill/>
        </p:spPr>
        <p:txBody>
          <a:bodyPr wrap="square" anchor="t" lIns="50800" rIns="50800" tIns="25400" bIns="25400">
            <a:spAutoFit/>
          </a:bodyPr>
          <a:lstStyle/>
          <a:p>
            <a:pPr algn="l"/>
            <a:r>
              <a:rPr sz="1050" b="0" i="0">
                <a:solidFill>
                  <a:srgbClr val="2D3748"/>
                </a:solidFill>
                <a:latin typeface="Inter"/>
              </a:rPr>
              <a:t>Gestion adhésions / élections</a:t>
            </a:r>
          </a:p>
        </p:txBody>
      </p:sp>
      <p:sp>
        <p:nvSpPr>
          <p:cNvPr id="31" name="Rounded Rectangle 30"/>
          <p:cNvSpPr/>
          <p:nvPr/>
        </p:nvSpPr>
        <p:spPr>
          <a:xfrm>
            <a:off x="8046719" y="4069080"/>
            <a:ext cx="3520440" cy="1920240"/>
          </a:xfrm>
          <a:prstGeom prst="roundRect">
            <a:avLst>
              <a:gd name="adj" fmla="val 5000"/>
            </a:avLst>
          </a:prstGeom>
          <a:solidFill>
            <a:srgbClr val="F5F7FA"/>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83879" y="4206240"/>
            <a:ext cx="3246120" cy="1143000"/>
          </a:xfrm>
          <a:prstGeom prst="roundRect">
            <a:avLst>
              <a:gd name="adj" fmla="val 4000"/>
            </a:avLst>
          </a:prstGeom>
          <a:solidFill>
            <a:srgbClr val="FFFFFF"/>
          </a:solidFill>
          <a:ln w="1524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79" y="4206240"/>
            <a:ext cx="3246120" cy="1143000"/>
          </a:xfrm>
          <a:prstGeom prst="rect">
            <a:avLst/>
          </a:prstGeom>
          <a:noFill/>
        </p:spPr>
        <p:txBody>
          <a:bodyPr wrap="square" anchor="ctr" lIns="50800" rIns="50800" tIns="25400" bIns="25400">
            <a:spAutoFit/>
          </a:bodyPr>
          <a:lstStyle/>
          <a:p>
            <a:pPr algn="ctr"/>
            <a:r>
              <a:rPr sz="1100" b="0" i="1">
                <a:solidFill>
                  <a:srgbClr val="718096"/>
                </a:solidFill>
                <a:latin typeface="Inter"/>
              </a:rPr>
              <a:t>[ capture d'écran ]</a:t>
            </a:r>
          </a:p>
        </p:txBody>
      </p:sp>
      <p:sp>
        <p:nvSpPr>
          <p:cNvPr id="34" name="TextBox 33"/>
          <p:cNvSpPr txBox="1"/>
          <p:nvPr/>
        </p:nvSpPr>
        <p:spPr>
          <a:xfrm>
            <a:off x="8275319" y="5440680"/>
            <a:ext cx="3108960" cy="320040"/>
          </a:xfrm>
          <a:prstGeom prst="rect">
            <a:avLst/>
          </a:prstGeom>
          <a:noFill/>
        </p:spPr>
        <p:txBody>
          <a:bodyPr wrap="square" anchor="t" lIns="50800" rIns="50800" tIns="25400" bIns="25400">
            <a:spAutoFit/>
          </a:bodyPr>
          <a:lstStyle/>
          <a:p>
            <a:pPr algn="l"/>
            <a:r>
              <a:rPr sz="1350" b="1" i="0">
                <a:solidFill>
                  <a:srgbClr val="1B9AAA"/>
                </a:solidFill>
                <a:latin typeface="Montserrat"/>
              </a:rPr>
              <a:t>Sondages</a:t>
            </a:r>
          </a:p>
        </p:txBody>
      </p:sp>
      <p:sp>
        <p:nvSpPr>
          <p:cNvPr id="35" name="TextBox 34"/>
          <p:cNvSpPr txBox="1"/>
          <p:nvPr/>
        </p:nvSpPr>
        <p:spPr>
          <a:xfrm>
            <a:off x="8275319" y="5733288"/>
            <a:ext cx="3108960" cy="274320"/>
          </a:xfrm>
          <a:prstGeom prst="rect">
            <a:avLst/>
          </a:prstGeom>
          <a:noFill/>
        </p:spPr>
        <p:txBody>
          <a:bodyPr wrap="square" anchor="t" lIns="50800" rIns="50800" tIns="25400" bIns="25400">
            <a:spAutoFit/>
          </a:bodyPr>
          <a:lstStyle/>
          <a:p>
            <a:pPr algn="l"/>
            <a:r>
              <a:rPr sz="1050" b="0" i="0">
                <a:solidFill>
                  <a:srgbClr val="2D3748"/>
                </a:solidFill>
                <a:latin typeface="Inter"/>
              </a:rPr>
              <a:t>Création &amp; statistiques</a:t>
            </a:r>
          </a:p>
        </p:txBody>
      </p:sp>
      <p:sp>
        <p:nvSpPr>
          <p:cNvPr id="36" name="TextBox 35"/>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37" name="TextBox 36"/>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0515600" cy="365760"/>
          </a:xfrm>
          <a:prstGeom prst="rect">
            <a:avLst/>
          </a:prstGeom>
          <a:noFill/>
        </p:spPr>
        <p:txBody>
          <a:bodyPr wrap="square" anchor="t" lIns="50800" rIns="50800" tIns="25400" bIns="25400">
            <a:spAutoFit/>
          </a:bodyPr>
          <a:lstStyle/>
          <a:p>
            <a:pPr algn="l"/>
            <a:r>
              <a:rPr sz="1300" b="1" i="0">
                <a:solidFill>
                  <a:srgbClr val="1B9AAA"/>
                </a:solidFill>
                <a:latin typeface="Montserrat"/>
              </a:rPr>
              <a:t>6 · BILAN</a:t>
            </a:r>
          </a:p>
        </p:txBody>
      </p:sp>
      <p:sp>
        <p:nvSpPr>
          <p:cNvPr id="4" name="TextBox 3"/>
          <p:cNvSpPr txBox="1"/>
          <p:nvPr/>
        </p:nvSpPr>
        <p:spPr>
          <a:xfrm>
            <a:off x="548640" y="777240"/>
            <a:ext cx="11064240" cy="914400"/>
          </a:xfrm>
          <a:prstGeom prst="rect">
            <a:avLst/>
          </a:prstGeom>
          <a:noFill/>
        </p:spPr>
        <p:txBody>
          <a:bodyPr wrap="square" anchor="t" lIns="50800" rIns="50800" tIns="25400" bIns="25400">
            <a:spAutoFit/>
          </a:bodyPr>
          <a:lstStyle/>
          <a:p>
            <a:pPr algn="l"/>
            <a:r>
              <a:rPr sz="3000" b="1" i="0">
                <a:solidFill>
                  <a:srgbClr val="0A3D62"/>
                </a:solidFill>
                <a:latin typeface="Montserrat"/>
              </a:rPr>
              <a:t>Objectifs atteints — et la suite</a:t>
            </a:r>
          </a:p>
        </p:txBody>
      </p:sp>
      <p:sp>
        <p:nvSpPr>
          <p:cNvPr id="5" name="Rectangle 4"/>
          <p:cNvSpPr/>
          <p:nvPr/>
        </p:nvSpPr>
        <p:spPr>
          <a:xfrm>
            <a:off x="566928" y="1572768"/>
            <a:ext cx="14630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74519"/>
            <a:ext cx="3520440" cy="4206240"/>
          </a:xfrm>
          <a:prstGeom prst="roundRect">
            <a:avLst>
              <a:gd name="adj" fmla="val 5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874519"/>
            <a:ext cx="3520440" cy="54864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19"/>
            <a:ext cx="3520440" cy="548640"/>
          </a:xfrm>
          <a:prstGeom prst="rect">
            <a:avLst/>
          </a:prstGeom>
          <a:noFill/>
        </p:spPr>
        <p:txBody>
          <a:bodyPr wrap="square" anchor="ctr" lIns="50800" rIns="50800" tIns="25400" bIns="25400">
            <a:spAutoFit/>
          </a:bodyPr>
          <a:lstStyle/>
          <a:p>
            <a:pPr algn="ctr"/>
            <a:r>
              <a:rPr sz="1400" b="1" i="0">
                <a:solidFill>
                  <a:srgbClr val="FFFFFF"/>
                </a:solidFill>
                <a:latin typeface="Montserrat"/>
              </a:rPr>
              <a:t>RÉALISÉ</a:t>
            </a:r>
          </a:p>
        </p:txBody>
      </p:sp>
      <p:sp>
        <p:nvSpPr>
          <p:cNvPr id="9" name="TextBox 8"/>
          <p:cNvSpPr txBox="1"/>
          <p:nvPr/>
        </p:nvSpPr>
        <p:spPr>
          <a:xfrm>
            <a:off x="896112" y="2606040"/>
            <a:ext cx="3063240" cy="3291840"/>
          </a:xfrm>
          <a:prstGeom prst="rect">
            <a:avLst/>
          </a:prstGeom>
          <a:noFill/>
        </p:spPr>
        <p:txBody>
          <a:bodyPr wrap="square" anchor="t" lIns="50800" rIns="50800" tIns="25400" bIns="25400">
            <a:spAutoFit/>
          </a:bodyPr>
          <a:lstStyle/>
          <a:p>
            <a:pPr algn="l"/>
            <a:r>
              <a:rPr sz="1200" b="0" i="0">
                <a:solidFill>
                  <a:srgbClr val="2D3748"/>
                </a:solidFill>
                <a:latin typeface="Inter"/>
              </a:rPr>
              <a:t>•  Plateforme centralisée</a:t>
            </a:r>
          </a:p>
          <a:p>
            <a:pPr algn="l"/>
            <a:r>
              <a:rPr sz="1200" b="0" i="0">
                <a:solidFill>
                  <a:srgbClr val="2D3748"/>
                </a:solidFill>
                <a:latin typeface="Inter"/>
              </a:rPr>
              <a:t>•  Adhésions dématérialisées + suivi</a:t>
            </a:r>
          </a:p>
          <a:p>
            <a:pPr algn="l"/>
            <a:r>
              <a:rPr sz="1200" b="0" i="0">
                <a:solidFill>
                  <a:srgbClr val="2D3748"/>
                </a:solidFill>
                <a:latin typeface="Inter"/>
              </a:rPr>
              <a:t>•  Registre / annuaire public</a:t>
            </a:r>
          </a:p>
          <a:p>
            <a:pPr algn="l"/>
            <a:r>
              <a:rPr sz="1200" b="0" i="0">
                <a:solidFill>
                  <a:srgbClr val="2D3748"/>
                </a:solidFill>
                <a:latin typeface="Inter"/>
              </a:rPr>
              <a:t>•  Réclamations numériques</a:t>
            </a:r>
          </a:p>
          <a:p>
            <a:pPr algn="l"/>
            <a:r>
              <a:rPr sz="1200" b="0" i="0">
                <a:solidFill>
                  <a:srgbClr val="2D3748"/>
                </a:solidFill>
                <a:latin typeface="Inter"/>
              </a:rPr>
              <a:t>•  Sondages &amp; statistiques</a:t>
            </a:r>
          </a:p>
          <a:p>
            <a:pPr algn="l"/>
            <a:r>
              <a:rPr sz="1200" b="0" i="0">
                <a:solidFill>
                  <a:srgbClr val="2D3748"/>
                </a:solidFill>
                <a:latin typeface="Inter"/>
              </a:rPr>
              <a:t>•  Élections sécurisées (crypto)</a:t>
            </a:r>
          </a:p>
          <a:p>
            <a:pPr algn="l"/>
            <a:r>
              <a:rPr sz="1200" b="0" i="0">
                <a:solidFill>
                  <a:srgbClr val="2D3748"/>
                </a:solidFill>
                <a:latin typeface="Inter"/>
              </a:rPr>
              <a:t>•  RBAC / JWT / BCrypt</a:t>
            </a:r>
          </a:p>
        </p:txBody>
      </p:sp>
      <p:sp>
        <p:nvSpPr>
          <p:cNvPr id="10" name="Rounded Rectangle 9"/>
          <p:cNvSpPr/>
          <p:nvPr/>
        </p:nvSpPr>
        <p:spPr>
          <a:xfrm>
            <a:off x="4343400" y="1874519"/>
            <a:ext cx="3520440" cy="4206240"/>
          </a:xfrm>
          <a:prstGeom prst="roundRect">
            <a:avLst>
              <a:gd name="adj" fmla="val 5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1874519"/>
            <a:ext cx="3520440" cy="548640"/>
          </a:xfrm>
          <a:prstGeom prst="roundRect">
            <a:avLst>
              <a:gd name="adj" fmla="val 50000"/>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1874519"/>
            <a:ext cx="3520440" cy="548640"/>
          </a:xfrm>
          <a:prstGeom prst="rect">
            <a:avLst/>
          </a:prstGeom>
          <a:noFill/>
        </p:spPr>
        <p:txBody>
          <a:bodyPr wrap="square" anchor="ctr" lIns="50800" rIns="50800" tIns="25400" bIns="25400">
            <a:spAutoFit/>
          </a:bodyPr>
          <a:lstStyle/>
          <a:p>
            <a:pPr algn="ctr"/>
            <a:r>
              <a:rPr sz="1400" b="1" i="0">
                <a:solidFill>
                  <a:srgbClr val="FFFFFF"/>
                </a:solidFill>
                <a:latin typeface="Montserrat"/>
              </a:rPr>
              <a:t>LIMITES ASSUMÉES</a:t>
            </a:r>
          </a:p>
        </p:txBody>
      </p:sp>
      <p:sp>
        <p:nvSpPr>
          <p:cNvPr id="13" name="TextBox 12"/>
          <p:cNvSpPr txBox="1"/>
          <p:nvPr/>
        </p:nvSpPr>
        <p:spPr>
          <a:xfrm>
            <a:off x="4599432" y="2606040"/>
            <a:ext cx="3063240" cy="3291840"/>
          </a:xfrm>
          <a:prstGeom prst="rect">
            <a:avLst/>
          </a:prstGeom>
          <a:noFill/>
        </p:spPr>
        <p:txBody>
          <a:bodyPr wrap="square" anchor="t" lIns="50800" rIns="50800" tIns="25400" bIns="25400">
            <a:spAutoFit/>
          </a:bodyPr>
          <a:lstStyle/>
          <a:p>
            <a:pPr algn="l"/>
            <a:r>
              <a:rPr sz="1200" b="0" i="0">
                <a:solidFill>
                  <a:srgbClr val="2D3748"/>
                </a:solidFill>
                <a:latin typeface="Inter"/>
              </a:rPr>
              <a:t>•  Clés crypto en base (pas de HSM)</a:t>
            </a:r>
          </a:p>
          <a:p>
            <a:pPr algn="l"/>
            <a:r>
              <a:rPr sz="1200" b="0" i="0">
                <a:solidFill>
                  <a:srgbClr val="2D3748"/>
                </a:solidFill>
                <a:latin typeface="Inter"/>
              </a:rPr>
              <a:t>•  Pas d'audit externe indépendant</a:t>
            </a:r>
          </a:p>
          <a:p>
            <a:pPr algn="l"/>
            <a:r>
              <a:rPr sz="1200" b="0" i="0">
                <a:solidFill>
                  <a:srgbClr val="2D3748"/>
                </a:solidFill>
                <a:latin typeface="Inter"/>
              </a:rPr>
              <a:t>•  Tests surtout fonctionnels (Postman)</a:t>
            </a:r>
          </a:p>
          <a:p>
            <a:pPr algn="l"/>
            <a:r>
              <a:rPr sz="1200" b="0" i="0">
                <a:solidFill>
                  <a:srgbClr val="2D3748"/>
                </a:solidFill>
                <a:latin typeface="Inter"/>
              </a:rPr>
              <a:t>•  Déploiement mono-instance</a:t>
            </a:r>
          </a:p>
        </p:txBody>
      </p:sp>
      <p:sp>
        <p:nvSpPr>
          <p:cNvPr id="14" name="Rounded Rectangle 13"/>
          <p:cNvSpPr/>
          <p:nvPr/>
        </p:nvSpPr>
        <p:spPr>
          <a:xfrm>
            <a:off x="8046719" y="1874519"/>
            <a:ext cx="3520440" cy="4206240"/>
          </a:xfrm>
          <a:prstGeom prst="roundRect">
            <a:avLst>
              <a:gd name="adj" fmla="val 5000"/>
            </a:avLst>
          </a:prstGeom>
          <a:solidFill>
            <a:srgbClr val="FFFFFF"/>
          </a:solidFill>
          <a:ln>
            <a:noFill/>
          </a:ln>
          <a:effectLst/>
          <a:effectLst>
            <a:outerShdw blurRad="90000" dist="40000" dir="5400000" rotWithShape="0">
              <a:srgbClr val="0A3D62">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874519"/>
            <a:ext cx="3520440" cy="548640"/>
          </a:xfrm>
          <a:prstGeom prst="roundRect">
            <a:avLst>
              <a:gd name="adj" fmla="val 5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9" y="1874519"/>
            <a:ext cx="3520440" cy="548640"/>
          </a:xfrm>
          <a:prstGeom prst="rect">
            <a:avLst/>
          </a:prstGeom>
          <a:noFill/>
        </p:spPr>
        <p:txBody>
          <a:bodyPr wrap="square" anchor="ctr" lIns="50800" rIns="50800" tIns="25400" bIns="25400">
            <a:spAutoFit/>
          </a:bodyPr>
          <a:lstStyle/>
          <a:p>
            <a:pPr algn="ctr"/>
            <a:r>
              <a:rPr sz="1400" b="1" i="0">
                <a:solidFill>
                  <a:srgbClr val="FFFFFF"/>
                </a:solidFill>
                <a:latin typeface="Montserrat"/>
              </a:rPr>
              <a:t>PERSPECTIVES</a:t>
            </a:r>
          </a:p>
        </p:txBody>
      </p:sp>
      <p:sp>
        <p:nvSpPr>
          <p:cNvPr id="17" name="TextBox 16"/>
          <p:cNvSpPr txBox="1"/>
          <p:nvPr/>
        </p:nvSpPr>
        <p:spPr>
          <a:xfrm>
            <a:off x="8302751" y="2606040"/>
            <a:ext cx="3063240" cy="3291840"/>
          </a:xfrm>
          <a:prstGeom prst="rect">
            <a:avLst/>
          </a:prstGeom>
          <a:noFill/>
        </p:spPr>
        <p:txBody>
          <a:bodyPr wrap="square" anchor="t" lIns="50800" rIns="50800" tIns="25400" bIns="25400">
            <a:spAutoFit/>
          </a:bodyPr>
          <a:lstStyle/>
          <a:p>
            <a:pPr algn="l"/>
            <a:r>
              <a:rPr sz="1200" b="0" i="0">
                <a:solidFill>
                  <a:srgbClr val="2D3748"/>
                </a:solidFill>
                <a:latin typeface="Inter"/>
              </a:rPr>
              <a:t>•  HSM + audit externe + archi distribuée</a:t>
            </a:r>
          </a:p>
          <a:p>
            <a:pPr algn="l"/>
            <a:r>
              <a:rPr sz="1200" b="0" i="0">
                <a:solidFill>
                  <a:srgbClr val="2D3748"/>
                </a:solidFill>
                <a:latin typeface="Inter"/>
              </a:rPr>
              <a:t>•  Tableaux de bord &amp; statistiques</a:t>
            </a:r>
          </a:p>
          <a:p>
            <a:pPr algn="l"/>
            <a:r>
              <a:rPr sz="1200" b="0" i="0">
                <a:solidFill>
                  <a:srgbClr val="2D3748"/>
                </a:solidFill>
                <a:latin typeface="Inter"/>
              </a:rPr>
              <a:t>•  Notifications avancées</a:t>
            </a:r>
          </a:p>
          <a:p>
            <a:pPr algn="l"/>
            <a:r>
              <a:rPr sz="1200" b="0" i="0">
                <a:solidFill>
                  <a:srgbClr val="2D3748"/>
                </a:solidFill>
                <a:latin typeface="Inter"/>
              </a:rPr>
              <a:t>•  API officielle du registre national</a:t>
            </a:r>
          </a:p>
          <a:p>
            <a:pPr algn="l"/>
            <a:r>
              <a:rPr sz="1200" b="0" i="0">
                <a:solidFill>
                  <a:srgbClr val="2D3748"/>
                </a:solidFill>
                <a:latin typeface="Inter"/>
              </a:rPr>
              <a:t>•  (ONMM = source de référence santé)</a:t>
            </a:r>
          </a:p>
        </p:txBody>
      </p:sp>
      <p:sp>
        <p:nvSpPr>
          <p:cNvPr id="18" name="TextBox 17"/>
          <p:cNvSpPr txBox="1"/>
          <p:nvPr/>
        </p:nvSpPr>
        <p:spPr>
          <a:xfrm>
            <a:off x="365760" y="6446520"/>
            <a:ext cx="8229600" cy="320040"/>
          </a:xfrm>
          <a:prstGeom prst="rect">
            <a:avLst/>
          </a:prstGeom>
          <a:noFill/>
        </p:spPr>
        <p:txBody>
          <a:bodyPr wrap="square" anchor="t" lIns="50800" rIns="50800" tIns="25400" bIns="25400">
            <a:spAutoFit/>
          </a:bodyPr>
          <a:lstStyle/>
          <a:p>
            <a:pPr algn="l"/>
            <a:r>
              <a:rPr sz="900" b="0" i="0">
                <a:solidFill>
                  <a:srgbClr val="718096"/>
                </a:solidFill>
                <a:latin typeface="Inter"/>
              </a:rPr>
              <a:t>ONMM · PFE 2026 · M. Sidi Mohamed Mohamed Salem</a:t>
            </a:r>
          </a:p>
        </p:txBody>
      </p:sp>
      <p:sp>
        <p:nvSpPr>
          <p:cNvPr id="19" name="TextBox 18"/>
          <p:cNvSpPr txBox="1"/>
          <p:nvPr/>
        </p:nvSpPr>
        <p:spPr>
          <a:xfrm>
            <a:off x="11247120" y="6446520"/>
            <a:ext cx="731520" cy="320040"/>
          </a:xfrm>
          <a:prstGeom prst="rect">
            <a:avLst/>
          </a:prstGeom>
          <a:noFill/>
        </p:spPr>
        <p:txBody>
          <a:bodyPr wrap="square" anchor="t" lIns="50800" rIns="50800" tIns="25400" bIns="25400">
            <a:spAutoFit/>
          </a:bodyPr>
          <a:lstStyle/>
          <a:p>
            <a:pPr algn="r"/>
            <a:r>
              <a:rPr sz="900" b="1" i="0">
                <a:solidFill>
                  <a:srgbClr val="718096"/>
                </a:solidFill>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3D6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91695" cy="1097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457200"/>
          </a:xfrm>
          <a:prstGeom prst="rect">
            <a:avLst/>
          </a:prstGeom>
          <a:noFill/>
        </p:spPr>
        <p:txBody>
          <a:bodyPr wrap="square" anchor="t" lIns="50800" rIns="50800" tIns="25400" bIns="25400">
            <a:spAutoFit/>
          </a:bodyPr>
          <a:lstStyle/>
          <a:p>
            <a:pPr algn="l"/>
            <a:r>
              <a:rPr sz="1500" b="1" i="0">
                <a:solidFill>
                  <a:srgbClr val="1B9AAA"/>
                </a:solidFill>
                <a:latin typeface="Montserrat"/>
              </a:rPr>
              <a:t>CONCLUSION</a:t>
            </a:r>
          </a:p>
        </p:txBody>
      </p:sp>
      <p:sp>
        <p:nvSpPr>
          <p:cNvPr id="5" name="TextBox 4"/>
          <p:cNvSpPr txBox="1"/>
          <p:nvPr/>
        </p:nvSpPr>
        <p:spPr>
          <a:xfrm>
            <a:off x="822960" y="2011680"/>
            <a:ext cx="10607040" cy="1645920"/>
          </a:xfrm>
          <a:prstGeom prst="rect">
            <a:avLst/>
          </a:prstGeom>
          <a:noFill/>
        </p:spPr>
        <p:txBody>
          <a:bodyPr wrap="square" anchor="t" lIns="50800" rIns="50800" tIns="25400" bIns="25400">
            <a:spAutoFit/>
          </a:bodyPr>
          <a:lstStyle/>
          <a:p>
            <a:pPr algn="l"/>
            <a:r>
              <a:rPr sz="3200" b="1" i="0">
                <a:solidFill>
                  <a:srgbClr val="FFFFFF"/>
                </a:solidFill>
                <a:latin typeface="Montserrat"/>
              </a:rPr>
              <a:t>De l'Excel partagé à l'autorité de référence numérique</a:t>
            </a:r>
          </a:p>
        </p:txBody>
      </p:sp>
      <p:sp>
        <p:nvSpPr>
          <p:cNvPr id="6" name="TextBox 5"/>
          <p:cNvSpPr txBox="1"/>
          <p:nvPr/>
        </p:nvSpPr>
        <p:spPr>
          <a:xfrm>
            <a:off x="868680" y="3566160"/>
            <a:ext cx="10424160" cy="1097280"/>
          </a:xfrm>
          <a:prstGeom prst="rect">
            <a:avLst/>
          </a:prstGeom>
          <a:noFill/>
        </p:spPr>
        <p:txBody>
          <a:bodyPr wrap="square" anchor="t" lIns="50800" rIns="50800" tIns="25400" bIns="25400">
            <a:spAutoFit/>
          </a:bodyPr>
          <a:lstStyle/>
          <a:p>
            <a:pPr algn="l"/>
            <a:r>
              <a:rPr sz="1700" b="0" i="0">
                <a:solidFill>
                  <a:srgbClr val="C9E6EC"/>
                </a:solidFill>
                <a:latin typeface="Inter"/>
              </a:rPr>
              <a:t>Une première brique solide du système d'information de l'ONMM : centralisée, sécurisée et traçable — et une trajectoire claire vers un registre national exposé en API pour tout le secteur de la santé.</a:t>
            </a:r>
          </a:p>
        </p:txBody>
      </p:sp>
      <p:sp>
        <p:nvSpPr>
          <p:cNvPr id="7" name="Rounded Rectangle 6"/>
          <p:cNvSpPr/>
          <p:nvPr/>
        </p:nvSpPr>
        <p:spPr>
          <a:xfrm>
            <a:off x="868680" y="5029200"/>
            <a:ext cx="3840480" cy="731520"/>
          </a:xfrm>
          <a:prstGeom prst="roundRect">
            <a:avLst>
              <a:gd name="adj" fmla="val 50000"/>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029200"/>
            <a:ext cx="3840480" cy="731520"/>
          </a:xfrm>
          <a:prstGeom prst="rect">
            <a:avLst/>
          </a:prstGeom>
          <a:noFill/>
        </p:spPr>
        <p:txBody>
          <a:bodyPr wrap="square" anchor="ctr" lIns="50800" rIns="50800" tIns="25400" bIns="25400">
            <a:spAutoFit/>
          </a:bodyPr>
          <a:lstStyle/>
          <a:p>
            <a:pPr algn="ctr"/>
            <a:r>
              <a:rPr sz="1800" b="1" i="0">
                <a:solidFill>
                  <a:srgbClr val="FFFFFF"/>
                </a:solidFill>
                <a:latin typeface="Montserrat"/>
              </a:rPr>
              <a:t>Merci — vos questions ?</a:t>
            </a:r>
          </a:p>
        </p:txBody>
      </p:sp>
      <p:sp>
        <p:nvSpPr>
          <p:cNvPr id="9" name="TextBox 8"/>
          <p:cNvSpPr txBox="1"/>
          <p:nvPr/>
        </p:nvSpPr>
        <p:spPr>
          <a:xfrm>
            <a:off x="8229600" y="5074920"/>
            <a:ext cx="3108960" cy="640080"/>
          </a:xfrm>
          <a:prstGeom prst="rect">
            <a:avLst/>
          </a:prstGeom>
          <a:noFill/>
        </p:spPr>
        <p:txBody>
          <a:bodyPr wrap="square" anchor="ctr" lIns="50800" rIns="50800" tIns="25400" bIns="25400">
            <a:spAutoFit/>
          </a:bodyPr>
          <a:lstStyle/>
          <a:p>
            <a:pPr algn="r"/>
            <a:r>
              <a:rPr sz="1300" b="0" i="0">
                <a:solidFill>
                  <a:srgbClr val="C9E6EC"/>
                </a:solidFill>
                <a:latin typeface="Inter"/>
              </a:rPr>
              <a:t>M. Sidi Mohamed · C23282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anchor="ctr" lIns="50800" rIns="50800" tIns="25400" bIns="25400">
            <a:spAutoFit/>
          </a:bodyPr>
          <a:lstStyle/>
          <a:p>
            <a:pPr algn="l"/>
            <a:r>
              <a:rPr sz="1600" b="1" i="0">
                <a:solidFill>
                  <a:srgbClr val="E8B04B"/>
                </a:solidFill>
                <a:latin typeface="Montserrat"/>
              </a:rPr>
              <a:t>ANNEXE · </a:t>
            </a:r>
            <a:r>
              <a:rPr sz="2200" b="1" i="0">
                <a:solidFill>
                  <a:srgbClr val="FFFFFF"/>
                </a:solidFill>
                <a:latin typeface="Montserrat"/>
              </a:rPr>
              <a:t>Détail cryptographique (sur question vote)</a:t>
            </a:r>
          </a:p>
        </p:txBody>
      </p:sp>
      <p:sp>
        <p:nvSpPr>
          <p:cNvPr id="4" name="TextBox 3"/>
          <p:cNvSpPr txBox="1"/>
          <p:nvPr/>
        </p:nvSpPr>
        <p:spPr>
          <a:xfrm>
            <a:off x="640080" y="1463040"/>
            <a:ext cx="10972800" cy="4754880"/>
          </a:xfrm>
          <a:prstGeom prst="rect">
            <a:avLst/>
          </a:prstGeom>
          <a:noFill/>
        </p:spPr>
        <p:txBody>
          <a:bodyPr wrap="square" anchor="t" lIns="50800" rIns="50800" tIns="25400" bIns="25400">
            <a:spAutoFit/>
          </a:bodyPr>
          <a:lstStyle/>
          <a:p>
            <a:pPr algn="l"/>
            <a:r>
              <a:rPr sz="1400" b="0" i="0">
                <a:solidFill>
                  <a:srgbClr val="2D3748"/>
                </a:solidFill>
                <a:latin typeface="Inter"/>
              </a:rPr>
              <a:t>• Format stocké : Base64(wrappedDEK) + "." + Base64(iv + ciphertext)</a:t>
            </a:r>
          </a:p>
          <a:p>
            <a:pPr algn="l"/>
            <a:r>
              <a:rPr sz="1400" b="0" i="0">
                <a:solidFill>
                  <a:srgbClr val="2D3748"/>
                </a:solidFill>
                <a:latin typeface="Inter"/>
              </a:rPr>
              <a:t>• AES-256-GCM : tag d'authentification 128 bits, IV 12 octets, DEK 32 octets aléatoire par bulletin</a:t>
            </a:r>
          </a:p>
          <a:p>
            <a:pPr algn="l"/>
            <a:r>
              <a:rPr sz="1400" b="0" i="0">
                <a:solidFill>
                  <a:srgbClr val="2D3748"/>
                </a:solidFill>
                <a:latin typeface="Inter"/>
              </a:rPr>
              <a:t>• RSA-2048 OAEP-SHA256 (MGF1-SHA256) : enveloppe (wrap) de la DEK avec la clé publique de l'élection</a:t>
            </a:r>
          </a:p>
          <a:p>
            <a:pPr algn="l"/>
            <a:r>
              <a:rPr sz="1400" b="0" i="0">
                <a:solidFill>
                  <a:srgbClr val="2D3748"/>
                </a:solidFill>
                <a:latin typeface="Inter"/>
              </a:rPr>
              <a:t>• Clé privée RSA délivrée par KeyManagementService UNIQUEMENT si statut ≠ VOTE_EN_COURS</a:t>
            </a:r>
          </a:p>
          <a:p>
            <a:pPr algn="l"/>
            <a:r>
              <a:rPr sz="1400" b="0" i="0">
                <a:solidFill>
                  <a:srgbClr val="2D3748"/>
                </a:solidFill>
                <a:latin typeface="Inter"/>
              </a:rPr>
              <a:t>• Vote Hash = SHA-256(electionId : voterToken : encryptedChoice : timestamp) — le vote n'apparaît jamais en clair</a:t>
            </a:r>
          </a:p>
          <a:p>
            <a:pPr algn="l"/>
            <a:r>
              <a:rPr sz="1400" b="0" i="0">
                <a:solidFill>
                  <a:srgbClr val="2D3748"/>
                </a:solidFill>
                <a:latin typeface="Inter"/>
              </a:rPr>
              <a:t>• Voter Token = HMAC-SHA256(secret serveur, electionId, médecinId) — déterministe (unicité) mais non réversible</a:t>
            </a:r>
          </a:p>
          <a:p>
            <a:pPr algn="l"/>
            <a:r>
              <a:rPr sz="1400" b="0" i="0">
                <a:solidFill>
                  <a:srgbClr val="2D3748"/>
                </a:solidFill>
                <a:latin typeface="Inter"/>
              </a:rPr>
              <a:t>• Signature Ed25519 (BouncyCastle) du serveur sur (encryptedChoice || voterToken || timestamp)</a:t>
            </a:r>
          </a:p>
          <a:p>
            <a:pPr algn="l"/>
            <a:r>
              <a:rPr sz="1400" b="0" i="0">
                <a:solidFill>
                  <a:srgbClr val="2D3748"/>
                </a:solidFill>
                <a:latin typeface="Inter"/>
              </a:rPr>
              <a:t>• Une seule paire Ed25519 au niveau serveur (origine du backend) ; une paire RSA PAR élection (confidentialité)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anchor="ctr" lIns="50800" rIns="50800" tIns="25400" bIns="25400">
            <a:spAutoFit/>
          </a:bodyPr>
          <a:lstStyle/>
          <a:p>
            <a:pPr algn="l"/>
            <a:r>
              <a:rPr sz="1600" b="1" i="0">
                <a:solidFill>
                  <a:srgbClr val="E8B04B"/>
                </a:solidFill>
                <a:latin typeface="Montserrat"/>
              </a:rPr>
              <a:t>ANNEXE · </a:t>
            </a:r>
            <a:r>
              <a:rPr sz="2200" b="1" i="0">
                <a:solidFill>
                  <a:srgbClr val="FFFFFF"/>
                </a:solidFill>
                <a:latin typeface="Montserrat"/>
              </a:rPr>
              <a:t>Machine d'état d'une élection</a:t>
            </a:r>
          </a:p>
        </p:txBody>
      </p:sp>
      <p:sp>
        <p:nvSpPr>
          <p:cNvPr id="4" name="TextBox 3"/>
          <p:cNvSpPr txBox="1"/>
          <p:nvPr/>
        </p:nvSpPr>
        <p:spPr>
          <a:xfrm>
            <a:off x="640080" y="1463040"/>
            <a:ext cx="10972800" cy="4754880"/>
          </a:xfrm>
          <a:prstGeom prst="rect">
            <a:avLst/>
          </a:prstGeom>
          <a:noFill/>
        </p:spPr>
        <p:txBody>
          <a:bodyPr wrap="square" anchor="t" lIns="50800" rIns="50800" tIns="25400" bIns="25400">
            <a:spAutoFit/>
          </a:bodyPr>
          <a:lstStyle/>
          <a:p>
            <a:pPr algn="l"/>
            <a:r>
              <a:rPr sz="1400" b="0" i="0">
                <a:solidFill>
                  <a:srgbClr val="2D3748"/>
                </a:solidFill>
                <a:latin typeface="Inter"/>
              </a:rPr>
              <a:t>BROUILLON  →  VOTE_EN_COURS  →  CLÔTURE  →  DÉPOUILLEMENT  →  RÉSULTATS PUBLIÉS</a:t>
            </a:r>
          </a:p>
          <a:p>
            <a:pPr algn="l"/>
            <a:r>
              <a:rPr sz="1400" b="0" i="0">
                <a:solidFill>
                  <a:srgbClr val="2D3748"/>
                </a:solidFill>
                <a:latin typeface="Inter"/>
              </a:rPr>
              <a:t/>
            </a:r>
          </a:p>
          <a:p>
            <a:pPr algn="l"/>
            <a:r>
              <a:rPr sz="1400" b="0" i="0">
                <a:solidFill>
                  <a:srgbClr val="2D3748"/>
                </a:solidFill>
                <a:latin typeface="Inter"/>
              </a:rPr>
              <a:t>• BROUILLON : configuration, candidatures, génération de la paire de clés RSA de l'élection</a:t>
            </a:r>
          </a:p>
          <a:p>
            <a:pPr algn="l"/>
            <a:r>
              <a:rPr sz="1400" b="0" i="0">
                <a:solidFill>
                  <a:srgbClr val="2D3748"/>
                </a:solidFill>
                <a:latin typeface="Inter"/>
              </a:rPr>
              <a:t>• VOTE_EN_COURS : bulletins chiffrés + signés acceptés ; clé privée RSA INACCESSIBLE</a:t>
            </a:r>
          </a:p>
          <a:p>
            <a:pPr algn="l"/>
            <a:r>
              <a:rPr sz="1400" b="0" i="0">
                <a:solidFill>
                  <a:srgbClr val="2D3748"/>
                </a:solidFill>
                <a:latin typeface="Inter"/>
              </a:rPr>
              <a:t>• CLÔTURE : plus aucun vote accepté</a:t>
            </a:r>
          </a:p>
          <a:p>
            <a:pPr algn="l"/>
            <a:r>
              <a:rPr sz="1400" b="0" i="0">
                <a:solidFill>
                  <a:srgbClr val="2D3748"/>
                </a:solidFill>
                <a:latin typeface="Inter"/>
              </a:rPr>
              <a:t>• DÉPOUILLEMENT : déverrouillage de la clé privée, déchiffrement, vérification hash + signature</a:t>
            </a:r>
          </a:p>
          <a:p>
            <a:pPr algn="l"/>
            <a:r>
              <a:rPr sz="1400" b="0" i="0">
                <a:solidFill>
                  <a:srgbClr val="2D3748"/>
                </a:solidFill>
                <a:latin typeface="Inter"/>
              </a:rPr>
              <a:t>• RÉSULTATS : agrégation + signature des résultats finaux, publication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anchor="ctr" lIns="50800" rIns="50800" tIns="25400" bIns="25400">
            <a:spAutoFit/>
          </a:bodyPr>
          <a:lstStyle/>
          <a:p>
            <a:pPr algn="l"/>
            <a:r>
              <a:rPr sz="1600" b="1" i="0">
                <a:solidFill>
                  <a:srgbClr val="E8B04B"/>
                </a:solidFill>
                <a:latin typeface="Montserrat"/>
              </a:rPr>
              <a:t>ANNEXE · </a:t>
            </a:r>
            <a:r>
              <a:rPr sz="2200" b="1" i="0">
                <a:solidFill>
                  <a:srgbClr val="FFFFFF"/>
                </a:solidFill>
                <a:latin typeface="Montserrat"/>
              </a:rPr>
              <a:t>Planning des 8 sprints (16 semaines)</a:t>
            </a:r>
          </a:p>
        </p:txBody>
      </p:sp>
      <p:sp>
        <p:nvSpPr>
          <p:cNvPr id="4" name="TextBox 3"/>
          <p:cNvSpPr txBox="1"/>
          <p:nvPr/>
        </p:nvSpPr>
        <p:spPr>
          <a:xfrm>
            <a:off x="640080" y="1463040"/>
            <a:ext cx="10972800" cy="4754880"/>
          </a:xfrm>
          <a:prstGeom prst="rect">
            <a:avLst/>
          </a:prstGeom>
          <a:noFill/>
        </p:spPr>
        <p:txBody>
          <a:bodyPr wrap="square" anchor="t" lIns="50800" rIns="50800" tIns="25400" bIns="25400">
            <a:spAutoFit/>
          </a:bodyPr>
          <a:lstStyle/>
          <a:p>
            <a:pPr algn="l"/>
            <a:r>
              <a:rPr sz="1400" b="0" i="0">
                <a:solidFill>
                  <a:srgbClr val="2D3748"/>
                </a:solidFill>
                <a:latin typeface="Inter"/>
              </a:rPr>
              <a:t>Sprint 0 (S1-2)  : Cahier des charges, analyse des besoins, conception UML</a:t>
            </a:r>
          </a:p>
          <a:p>
            <a:pPr algn="l"/>
            <a:r>
              <a:rPr sz="1400" b="0" i="0">
                <a:solidFill>
                  <a:srgbClr val="2D3748"/>
                </a:solidFill>
                <a:latin typeface="Inter"/>
              </a:rPr>
              <a:t>Sprint 1 (S3-4)  : Validation administrative, registre officiel, profil médecin, spécialités</a:t>
            </a:r>
          </a:p>
          <a:p>
            <a:pPr algn="l"/>
            <a:r>
              <a:rPr sz="1400" b="0" i="0">
                <a:solidFill>
                  <a:srgbClr val="2D3748"/>
                </a:solidFill>
                <a:latin typeface="Inter"/>
              </a:rPr>
              <a:t>Sprint 2 (S5-6)  : Authentification, sécurité, gestion des rôles, module d'adhésion</a:t>
            </a:r>
          </a:p>
          <a:p>
            <a:pPr algn="l"/>
            <a:r>
              <a:rPr sz="1400" b="0" i="0">
                <a:solidFill>
                  <a:srgbClr val="2D3748"/>
                </a:solidFill>
                <a:latin typeface="Inter"/>
              </a:rPr>
              <a:t>Sprint 3 (S7-8)  : Pages publiques, annuaire, annonces, diffusion d'information</a:t>
            </a:r>
          </a:p>
          <a:p>
            <a:pPr algn="l"/>
            <a:r>
              <a:rPr sz="1400" b="0" i="0">
                <a:solidFill>
                  <a:srgbClr val="2D3748"/>
                </a:solidFill>
                <a:latin typeface="Inter"/>
              </a:rPr>
              <a:t>Sprint 4 (S9-10) : Réclamations et notifications</a:t>
            </a:r>
          </a:p>
          <a:p>
            <a:pPr algn="l"/>
            <a:r>
              <a:rPr sz="1400" b="0" i="0">
                <a:solidFill>
                  <a:srgbClr val="2D3748"/>
                </a:solidFill>
                <a:latin typeface="Inter"/>
              </a:rPr>
              <a:t>Sprint 5 (S11-12): Sondages / questionnaires (réponses, UI, statistiques)</a:t>
            </a:r>
          </a:p>
          <a:p>
            <a:pPr algn="l"/>
            <a:r>
              <a:rPr sz="1400" b="0" i="0">
                <a:solidFill>
                  <a:srgbClr val="2D3748"/>
                </a:solidFill>
                <a:latin typeface="Inter"/>
              </a:rPr>
              <a:t>Sprint 6 (S13-14): Élections et vote (règles métier, états, sécurité)</a:t>
            </a:r>
          </a:p>
          <a:p>
            <a:pPr algn="l"/>
            <a:r>
              <a:rPr sz="1400" b="0" i="0">
                <a:solidFill>
                  <a:srgbClr val="2D3748"/>
                </a:solidFill>
                <a:latin typeface="Inter"/>
              </a:rPr>
              <a:t>Sprint 7 (S15-16): Intégration finale, tests fonctionnels, corrections, déploiement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